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7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7475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550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744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4564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992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3101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5488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070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1286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68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37892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9581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804958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83982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8634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146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983E58-DB65-475A-B4D6-488CBCC56FB2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800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65758-8E93-E47A-85C6-E9023B1663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1491" y="592826"/>
            <a:ext cx="6060784" cy="1646302"/>
          </a:xfrm>
        </p:spPr>
        <p:txBody>
          <a:bodyPr/>
          <a:lstStyle/>
          <a:p>
            <a:r>
              <a:rPr lang="en-IN" b="1" dirty="0"/>
              <a:t>NLP Technologies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FC25D8-82C1-2264-67EC-A269236A3B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7785" y="2880549"/>
            <a:ext cx="7766936" cy="2828041"/>
          </a:xfrm>
        </p:spPr>
        <p:txBody>
          <a:bodyPr>
            <a:noAutofit/>
          </a:bodyPr>
          <a:lstStyle/>
          <a:p>
            <a:pPr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Tokenization, </a:t>
            </a:r>
            <a:r>
              <a:rPr lang="en-IN" dirty="0" err="1">
                <a:solidFill>
                  <a:schemeClr val="tx1"/>
                </a:solidFill>
              </a:rPr>
              <a:t>Stopword</a:t>
            </a:r>
            <a:r>
              <a:rPr lang="en-IN" dirty="0">
                <a:solidFill>
                  <a:schemeClr val="tx1"/>
                </a:solidFill>
              </a:rPr>
              <a:t> removal</a:t>
            </a:r>
          </a:p>
          <a:p>
            <a:pPr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Lemmatization (</a:t>
            </a:r>
            <a:r>
              <a:rPr lang="en-IN" dirty="0" err="1">
                <a:solidFill>
                  <a:schemeClr val="tx1"/>
                </a:solidFill>
              </a:rPr>
              <a:t>spaCy</a:t>
            </a:r>
            <a:r>
              <a:rPr lang="en-IN" dirty="0">
                <a:solidFill>
                  <a:schemeClr val="tx1"/>
                </a:solidFill>
              </a:rPr>
              <a:t>, NLTK)</a:t>
            </a:r>
          </a:p>
          <a:p>
            <a:pPr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Named Entity Recognition (NER)</a:t>
            </a:r>
          </a:p>
          <a:p>
            <a:pPr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Dependency Parsing</a:t>
            </a:r>
          </a:p>
          <a:p>
            <a:pPr algn="l">
              <a:lnSpc>
                <a:spcPct val="170000"/>
              </a:lnSpc>
            </a:pP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5220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66267-5C45-F5E7-B81F-6B0F95D03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Tokenization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CB2E7-EF59-B56B-C461-96F3E8E71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97464"/>
            <a:ext cx="8596668" cy="5278525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</a:pPr>
            <a:r>
              <a:rPr lang="en-GB" b="1" dirty="0"/>
              <a:t>Definition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en-GB" b="1" dirty="0"/>
              <a:t>Tokenization</a:t>
            </a:r>
            <a:r>
              <a:rPr lang="en-GB" dirty="0"/>
              <a:t> is the process of breaking text into smaller units called </a:t>
            </a:r>
            <a:r>
              <a:rPr lang="en-GB" b="1" dirty="0"/>
              <a:t>tokens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/>
              <a:t>These tokens can be </a:t>
            </a:r>
            <a:r>
              <a:rPr lang="en-GB" b="1" dirty="0"/>
              <a:t>words</a:t>
            </a:r>
            <a:r>
              <a:rPr lang="en-GB" dirty="0"/>
              <a:t>, </a:t>
            </a:r>
            <a:r>
              <a:rPr lang="en-GB" b="1" dirty="0" err="1"/>
              <a:t>subwords</a:t>
            </a:r>
            <a:r>
              <a:rPr lang="en-GB" dirty="0"/>
              <a:t>, </a:t>
            </a:r>
            <a:r>
              <a:rPr lang="en-GB" b="1" dirty="0"/>
              <a:t>characters</a:t>
            </a:r>
            <a:r>
              <a:rPr lang="en-GB" dirty="0"/>
              <a:t>, or even </a:t>
            </a:r>
            <a:r>
              <a:rPr lang="en-GB" b="1" dirty="0"/>
              <a:t>sentences</a:t>
            </a:r>
            <a:r>
              <a:rPr lang="en-GB" dirty="0"/>
              <a:t>.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en-GB" dirty="0"/>
              <a:t>It is the </a:t>
            </a:r>
            <a:r>
              <a:rPr lang="en-GB" b="1" dirty="0"/>
              <a:t>first step</a:t>
            </a:r>
            <a:r>
              <a:rPr lang="en-GB" dirty="0"/>
              <a:t> in most NLP tasks because machines work with structured    inputs, not raw text.</a:t>
            </a:r>
          </a:p>
          <a:p>
            <a:pPr>
              <a:lnSpc>
                <a:spcPct val="160000"/>
              </a:lnSpc>
            </a:pPr>
            <a:r>
              <a:rPr lang="en-GB" b="1" dirty="0"/>
              <a:t>Why Tokenization is needed?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en-GB" dirty="0"/>
              <a:t>Helps computers understand and process text.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en-GB" dirty="0"/>
              <a:t>Prepares text for further tasks like </a:t>
            </a:r>
            <a:r>
              <a:rPr lang="en-GB" b="1" dirty="0" err="1"/>
              <a:t>stopword</a:t>
            </a:r>
            <a:r>
              <a:rPr lang="en-GB" b="1" dirty="0"/>
              <a:t> removal</a:t>
            </a:r>
            <a:r>
              <a:rPr lang="en-GB" dirty="0"/>
              <a:t>, </a:t>
            </a:r>
            <a:r>
              <a:rPr lang="en-GB" b="1" dirty="0"/>
              <a:t>stemming</a:t>
            </a:r>
            <a:r>
              <a:rPr lang="en-GB" dirty="0"/>
              <a:t>, </a:t>
            </a:r>
            <a:r>
              <a:rPr lang="en-GB" b="1" dirty="0"/>
              <a:t>lemmatization</a:t>
            </a:r>
            <a:r>
              <a:rPr lang="en-GB" dirty="0"/>
              <a:t>, and </a:t>
            </a:r>
            <a:r>
              <a:rPr lang="en-GB" b="1" dirty="0"/>
              <a:t>model training</a:t>
            </a:r>
            <a:r>
              <a:rPr lang="en-GB" dirty="0"/>
              <a:t>.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en-GB" dirty="0"/>
              <a:t>Makes text analysis faster and more accurate.</a:t>
            </a:r>
          </a:p>
          <a:p>
            <a:pPr marL="0" indent="0">
              <a:lnSpc>
                <a:spcPct val="160000"/>
              </a:lnSpc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3574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E9278F1-A997-B0BC-91E4-B5A673E5C0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1652" y="343869"/>
            <a:ext cx="8287788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Types of Tokenization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Word Tokenization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Breaks text into individual words.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Input: "I love natural language processing." Output: ["I", "love", "natural", "language", "processing", "."]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CE6D313-24DD-F50F-EAF3-F26DBE331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52" y="3800642"/>
            <a:ext cx="8041593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Sentence Tokenization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Breaks text into sentences.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Input: "NLP is fun. It helps machines understand text." Output: ["NLP is fun.", "It helps machines understand text."]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843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AB4CDB4F-E2A3-329B-A4C8-BA46A8F82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751" y="744882"/>
            <a:ext cx="7101556" cy="2222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Subword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Tokenization (used in BERT, GPT, etc.)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Breaks text into meaningful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subwords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Input: "unbelievable"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Subword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tokens: ["un", "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believ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", "able"]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BEFF8BC-388F-49D8-031F-81BCE8AA9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751" y="3191130"/>
            <a:ext cx="6828090" cy="2776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Character Tokenization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Breaks text into individual characters.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Input: "cat" Output: ["c", "a", "t"]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013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0D74491-4739-08A4-082B-EB0B20B322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291" y="679556"/>
            <a:ext cx="8829280" cy="4992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 Example Using NLTK (Python)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from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nltk.tokenize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import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word_tokenize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sent_tokenize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text = "Tokenization is important. It helps NLP models understand text." print(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word_tokenize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(text))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print(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sent_tokenize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(text))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['Tokenization', 'is', 'important', '.', 'It', 'helps', 'NLP', 'models', 'understand', 'text', '.'] ['Tokenization is important.', 'It helps NLP models understand text.']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351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A2CB0-D683-B9DF-973B-7AA49B0DD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>
                <a:solidFill>
                  <a:srgbClr val="92D050"/>
                </a:solidFill>
              </a:rPr>
              <a:t>Stopword</a:t>
            </a:r>
            <a:r>
              <a:rPr lang="en-IN" dirty="0">
                <a:solidFill>
                  <a:srgbClr val="92D050"/>
                </a:solidFill>
              </a:rPr>
              <a:t> removal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6709F8-F92F-7240-7176-D0057F62880D}"/>
              </a:ext>
            </a:extLst>
          </p:cNvPr>
          <p:cNvSpPr txBox="1"/>
          <p:nvPr/>
        </p:nvSpPr>
        <p:spPr>
          <a:xfrm>
            <a:off x="794759" y="1930400"/>
            <a:ext cx="8315058" cy="3365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Definition</a:t>
            </a:r>
          </a:p>
          <a:p>
            <a:pPr>
              <a:lnSpc>
                <a:spcPct val="150000"/>
              </a:lnSpc>
            </a:pPr>
            <a:r>
              <a:rPr lang="en-GB" b="1" dirty="0" err="1"/>
              <a:t>Stopword</a:t>
            </a:r>
            <a:r>
              <a:rPr lang="en-GB" b="1" dirty="0"/>
              <a:t> removal</a:t>
            </a:r>
            <a:r>
              <a:rPr lang="en-GB" dirty="0"/>
              <a:t> is the process of removing </a:t>
            </a:r>
            <a:r>
              <a:rPr lang="en-GB" i="1" dirty="0"/>
              <a:t>common, frequently used words</a:t>
            </a:r>
            <a:r>
              <a:rPr lang="en-GB" dirty="0"/>
              <a:t> from text because they usually do </a:t>
            </a:r>
            <a:r>
              <a:rPr lang="en-GB" b="1" dirty="0"/>
              <a:t>not add significant meaning</a:t>
            </a:r>
            <a:r>
              <a:rPr lang="en-GB" dirty="0"/>
              <a:t> in NLP tasks.</a:t>
            </a:r>
          </a:p>
          <a:p>
            <a:pPr>
              <a:lnSpc>
                <a:spcPct val="150000"/>
              </a:lnSpc>
            </a:pPr>
            <a:endParaRPr lang="en-GB" dirty="0"/>
          </a:p>
          <a:p>
            <a:pPr>
              <a:lnSpc>
                <a:spcPct val="150000"/>
              </a:lnSpc>
            </a:pPr>
            <a:r>
              <a:rPr lang="en-GB" b="1" dirty="0" err="1"/>
              <a:t>Stopwords</a:t>
            </a:r>
            <a:r>
              <a:rPr lang="en-GB" dirty="0"/>
              <a:t> include words like: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is, am, are, the, a, an, in, on, of, to, for, with, by, and, or</a:t>
            </a:r>
            <a:r>
              <a:rPr lang="en-GB" dirty="0"/>
              <a:t> etc.</a:t>
            </a:r>
          </a:p>
          <a:p>
            <a:pPr>
              <a:lnSpc>
                <a:spcPct val="150000"/>
              </a:lnSpc>
            </a:pPr>
            <a:r>
              <a:rPr lang="en-GB" dirty="0"/>
              <a:t>These words appear very often but usually </a:t>
            </a:r>
            <a:r>
              <a:rPr lang="en-GB" b="1" dirty="0"/>
              <a:t>do not help</a:t>
            </a:r>
            <a:r>
              <a:rPr lang="en-GB" dirty="0"/>
              <a:t> in understanding the main meaning of the text.</a:t>
            </a:r>
          </a:p>
        </p:txBody>
      </p:sp>
    </p:spTree>
    <p:extLst>
      <p:ext uri="{BB962C8B-B14F-4D97-AF65-F5344CB8AC3E}">
        <p14:creationId xmlns:p14="http://schemas.microsoft.com/office/powerpoint/2010/main" val="2386645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23C7C3F-20F8-728E-F0ED-17A2D823FE5E}"/>
              </a:ext>
            </a:extLst>
          </p:cNvPr>
          <p:cNvSpPr txBox="1"/>
          <p:nvPr/>
        </p:nvSpPr>
        <p:spPr>
          <a:xfrm>
            <a:off x="931493" y="479025"/>
            <a:ext cx="6101696" cy="2949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Why </a:t>
            </a:r>
            <a:r>
              <a:rPr lang="en-GB" b="1" dirty="0" err="1"/>
              <a:t>Stopword</a:t>
            </a:r>
            <a:r>
              <a:rPr lang="en-GB" b="1" dirty="0"/>
              <a:t> Removal is important?</a:t>
            </a:r>
          </a:p>
          <a:p>
            <a:pPr>
              <a:lnSpc>
                <a:spcPct val="150000"/>
              </a:lnSpc>
            </a:pPr>
            <a:endParaRPr lang="en-GB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Reduces the size of text data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Removes noise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Helps machine learning models focus on </a:t>
            </a:r>
            <a:r>
              <a:rPr lang="en-GB" i="1" dirty="0"/>
              <a:t>important    </a:t>
            </a:r>
          </a:p>
          <a:p>
            <a:pPr>
              <a:lnSpc>
                <a:spcPct val="150000"/>
              </a:lnSpc>
            </a:pPr>
            <a:r>
              <a:rPr lang="en-GB" i="1" dirty="0"/>
              <a:t> words</a:t>
            </a:r>
            <a:endParaRPr lang="en-GB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Speeds up NLP processing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184611F-C9F0-9E3E-E1D1-6401E2C4C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1493" y="4006031"/>
            <a:ext cx="6845181" cy="2118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Example Without and With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Stopword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Removal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Input Sentence: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"I am learning NLP in the field of artificial intelligence." 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After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Stopword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Removal: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["learning", "NLP", "field", "artificial", "intelligence"]</a:t>
            </a:r>
          </a:p>
        </p:txBody>
      </p:sp>
    </p:spTree>
    <p:extLst>
      <p:ext uri="{BB962C8B-B14F-4D97-AF65-F5344CB8AC3E}">
        <p14:creationId xmlns:p14="http://schemas.microsoft.com/office/powerpoint/2010/main" val="776565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28E5BD5-940D-D722-1BC9-738834C86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481" y="643650"/>
            <a:ext cx="6515100" cy="54425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 using NLTK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from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nltk.corpus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import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stopwords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from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nltk.tokenize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import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word_tokenize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text = "This is an example showing how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stopword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removal works in NLP."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stop_words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set(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stopwords.words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('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english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’))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words 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word_tokenize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(text)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filtered = [word for word in words if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word.lower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 not in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stop_words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]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print(filtered) 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['example', 'showing', '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stopword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', 'removal', 'works', 'NLP', '.']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908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FB76EA-17CB-F2B3-1A11-184AAC8DCE25}"/>
              </a:ext>
            </a:extLst>
          </p:cNvPr>
          <p:cNvSpPr txBox="1"/>
          <p:nvPr/>
        </p:nvSpPr>
        <p:spPr>
          <a:xfrm>
            <a:off x="461471" y="1229374"/>
            <a:ext cx="6511895" cy="2118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When NOT to remove </a:t>
            </a:r>
            <a:r>
              <a:rPr lang="en-GB" b="1" dirty="0" err="1"/>
              <a:t>stopwords</a:t>
            </a:r>
            <a:endParaRPr lang="en-GB" b="1" dirty="0"/>
          </a:p>
          <a:p>
            <a:pPr>
              <a:lnSpc>
                <a:spcPct val="150000"/>
              </a:lnSpc>
            </a:pPr>
            <a:r>
              <a:rPr lang="en-GB" dirty="0"/>
              <a:t>Sometimes </a:t>
            </a:r>
            <a:r>
              <a:rPr lang="en-GB" dirty="0" err="1"/>
              <a:t>stopwords</a:t>
            </a:r>
            <a:r>
              <a:rPr lang="en-GB" dirty="0"/>
              <a:t> are meaningful, such as: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Sentiment analysis ("not happy" → removing "not" changes meaning)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Question classification ("what", "why", "how" are important)</a:t>
            </a:r>
          </a:p>
        </p:txBody>
      </p:sp>
    </p:spTree>
    <p:extLst>
      <p:ext uri="{BB962C8B-B14F-4D97-AF65-F5344CB8AC3E}">
        <p14:creationId xmlns:p14="http://schemas.microsoft.com/office/powerpoint/2010/main" val="3378795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A25EFB-D33E-67CC-9A28-83CE3745EBC3}"/>
              </a:ext>
            </a:extLst>
          </p:cNvPr>
          <p:cNvSpPr txBox="1"/>
          <p:nvPr/>
        </p:nvSpPr>
        <p:spPr>
          <a:xfrm>
            <a:off x="837489" y="1183784"/>
            <a:ext cx="7939042" cy="2534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Definition</a:t>
            </a:r>
          </a:p>
          <a:p>
            <a:pPr>
              <a:lnSpc>
                <a:spcPct val="150000"/>
              </a:lnSpc>
            </a:pPr>
            <a:r>
              <a:rPr lang="en-GB" b="1" dirty="0"/>
              <a:t>Lemmatization</a:t>
            </a:r>
            <a:r>
              <a:rPr lang="en-GB" dirty="0"/>
              <a:t> is the process of converting a word to its </a:t>
            </a:r>
            <a:r>
              <a:rPr lang="en-GB" b="1" dirty="0"/>
              <a:t>base or dictionary form</a:t>
            </a:r>
            <a:r>
              <a:rPr lang="en-GB" dirty="0"/>
              <a:t>, called a </a:t>
            </a:r>
            <a:r>
              <a:rPr lang="en-GB" b="1" dirty="0"/>
              <a:t>lemma</a:t>
            </a:r>
            <a:r>
              <a:rPr lang="en-GB" dirty="0"/>
              <a:t>.</a:t>
            </a:r>
          </a:p>
          <a:p>
            <a:pPr>
              <a:lnSpc>
                <a:spcPct val="150000"/>
              </a:lnSpc>
            </a:pPr>
            <a:endParaRPr lang="en-GB" dirty="0"/>
          </a:p>
          <a:p>
            <a:pPr>
              <a:lnSpc>
                <a:spcPct val="150000"/>
              </a:lnSpc>
            </a:pPr>
            <a:r>
              <a:rPr lang="en-GB" dirty="0"/>
              <a:t>Unlike stemming (which just cuts words), </a:t>
            </a:r>
            <a:r>
              <a:rPr lang="en-GB" b="1" dirty="0"/>
              <a:t>lemmatization understands the meaning</a:t>
            </a:r>
            <a:r>
              <a:rPr lang="en-GB" dirty="0"/>
              <a:t> and uses vocabulary + grammar rules.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647C17-A6E2-13B6-BE61-BE1D3185BAD3}"/>
              </a:ext>
            </a:extLst>
          </p:cNvPr>
          <p:cNvSpPr txBox="1"/>
          <p:nvPr/>
        </p:nvSpPr>
        <p:spPr>
          <a:xfrm>
            <a:off x="777668" y="383629"/>
            <a:ext cx="61016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b="1" dirty="0">
                <a:solidFill>
                  <a:srgbClr val="92D050"/>
                </a:solidFill>
              </a:rPr>
              <a:t>Lemmatization </a:t>
            </a:r>
            <a:endParaRPr lang="en-IN" sz="3600" dirty="0">
              <a:solidFill>
                <a:srgbClr val="92D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4A7A09-5EEF-6D95-4AF4-3BFC065535C2}"/>
              </a:ext>
            </a:extLst>
          </p:cNvPr>
          <p:cNvSpPr txBox="1"/>
          <p:nvPr/>
        </p:nvSpPr>
        <p:spPr>
          <a:xfrm>
            <a:off x="837489" y="4068344"/>
            <a:ext cx="6939185" cy="2118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Why Lemmatization is used?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Reduces words to their meaningful root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Helps machine learning models understand text better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Improves accuracy in NLP tasks like text classification, search engines, sentiment analysis</a:t>
            </a:r>
          </a:p>
        </p:txBody>
      </p:sp>
    </p:spTree>
    <p:extLst>
      <p:ext uri="{BB962C8B-B14F-4D97-AF65-F5344CB8AC3E}">
        <p14:creationId xmlns:p14="http://schemas.microsoft.com/office/powerpoint/2010/main" val="3563238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4ABC87F-09B9-551D-AFCD-98E4832912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091348"/>
              </p:ext>
            </p:extLst>
          </p:nvPr>
        </p:nvGraphicFramePr>
        <p:xfrm>
          <a:off x="677863" y="1363232"/>
          <a:ext cx="4295790" cy="21945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147895">
                  <a:extLst>
                    <a:ext uri="{9D8B030D-6E8A-4147-A177-3AD203B41FA5}">
                      <a16:colId xmlns:a16="http://schemas.microsoft.com/office/drawing/2014/main" val="3352545549"/>
                    </a:ext>
                  </a:extLst>
                </a:gridCol>
                <a:gridCol w="2147895">
                  <a:extLst>
                    <a:ext uri="{9D8B030D-6E8A-4147-A177-3AD203B41FA5}">
                      <a16:colId xmlns:a16="http://schemas.microsoft.com/office/drawing/2014/main" val="2497048142"/>
                    </a:ext>
                  </a:extLst>
                </a:gridCol>
              </a:tblGrid>
              <a:tr h="352564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Lemma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3722273"/>
                  </a:ext>
                </a:extLst>
              </a:tr>
              <a:tr h="352564">
                <a:tc>
                  <a:txBody>
                    <a:bodyPr/>
                    <a:lstStyle/>
                    <a:p>
                      <a:r>
                        <a:rPr lang="en-IN" dirty="0"/>
                        <a:t>running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run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744464"/>
                  </a:ext>
                </a:extLst>
              </a:tr>
              <a:tr h="352564">
                <a:tc>
                  <a:txBody>
                    <a:bodyPr/>
                    <a:lstStyle/>
                    <a:p>
                      <a:r>
                        <a:rPr lang="en-IN"/>
                        <a:t>better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good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1066729"/>
                  </a:ext>
                </a:extLst>
              </a:tr>
              <a:tr h="352564">
                <a:tc>
                  <a:txBody>
                    <a:bodyPr/>
                    <a:lstStyle/>
                    <a:p>
                      <a:r>
                        <a:rPr lang="en-IN" dirty="0"/>
                        <a:t>studies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study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8230274"/>
                  </a:ext>
                </a:extLst>
              </a:tr>
              <a:tr h="352564">
                <a:tc>
                  <a:txBody>
                    <a:bodyPr/>
                    <a:lstStyle/>
                    <a:p>
                      <a:r>
                        <a:rPr lang="en-IN"/>
                        <a:t>children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child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3178476"/>
                  </a:ext>
                </a:extLst>
              </a:tr>
              <a:tr h="352564">
                <a:tc>
                  <a:txBody>
                    <a:bodyPr/>
                    <a:lstStyle/>
                    <a:p>
                      <a:r>
                        <a:rPr lang="en-IN" dirty="0"/>
                        <a:t>leaves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leaf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630708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BAD7B3FA-BD44-EA4B-ED7C-06E0F5F9C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863" y="826857"/>
            <a:ext cx="569730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Examples of Lemmatization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C7C39607-4C1E-5E7C-AF17-33F043461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222" y="3960878"/>
            <a:ext cx="6500604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Lemmatization Example Sentence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"The children were running and playing in the gardens.“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 (lemmatized):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["child", "be", "run", "play", "garden"]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53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96B462D-7DA7-936D-D266-0A84A13CF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667" y="499993"/>
            <a:ext cx="7511753" cy="58580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Lemmatization using NLTK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 Example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from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nltk.stem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import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WordNetLemmatizer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from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nltk.corpus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import wordnet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from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nltk.tokenize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import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word_tokenize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lemmatizer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WordNetLemmatizer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text = "The children were running and playing in the gardens."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words 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word_tokenize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(text)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lemmatized = [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lemmatizer.lemmatize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(word, pos='v') for word in words]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print(lemmatized)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['The', 'children', 'be', 'run', 'and', 'play', 'in', 'the', 'gardens', '.']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831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872BB2F-5F12-4278-2296-B27FC79AB947}"/>
              </a:ext>
            </a:extLst>
          </p:cNvPr>
          <p:cNvSpPr txBox="1"/>
          <p:nvPr/>
        </p:nvSpPr>
        <p:spPr>
          <a:xfrm>
            <a:off x="828941" y="335845"/>
            <a:ext cx="7443387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Example</a:t>
            </a:r>
          </a:p>
          <a:p>
            <a:endParaRPr lang="en-IN" dirty="0"/>
          </a:p>
          <a:p>
            <a:r>
              <a:rPr lang="en-IN" dirty="0"/>
              <a:t>import spacy</a:t>
            </a:r>
          </a:p>
          <a:p>
            <a:endParaRPr lang="en-IN" dirty="0"/>
          </a:p>
          <a:p>
            <a:r>
              <a:rPr lang="en-IN" dirty="0" err="1"/>
              <a:t>nlp</a:t>
            </a:r>
            <a:r>
              <a:rPr lang="en-IN" dirty="0"/>
              <a:t> = </a:t>
            </a:r>
            <a:r>
              <a:rPr lang="en-IN" dirty="0" err="1"/>
              <a:t>spacy.load</a:t>
            </a:r>
            <a:r>
              <a:rPr lang="en-IN" dirty="0"/>
              <a:t>("</a:t>
            </a:r>
            <a:r>
              <a:rPr lang="en-IN" dirty="0" err="1"/>
              <a:t>en_core_web_sm</a:t>
            </a:r>
            <a:r>
              <a:rPr lang="en-IN" dirty="0"/>
              <a:t>")</a:t>
            </a:r>
          </a:p>
          <a:p>
            <a:r>
              <a:rPr lang="en-IN" dirty="0"/>
              <a:t>text = "The children were running and playing in the gardens."</a:t>
            </a:r>
          </a:p>
          <a:p>
            <a:endParaRPr lang="en-IN" dirty="0"/>
          </a:p>
          <a:p>
            <a:r>
              <a:rPr lang="en-IN" dirty="0"/>
              <a:t>doc = </a:t>
            </a:r>
            <a:r>
              <a:rPr lang="en-IN" dirty="0" err="1"/>
              <a:t>nlp</a:t>
            </a:r>
            <a:r>
              <a:rPr lang="en-IN" dirty="0"/>
              <a:t>(text)</a:t>
            </a:r>
          </a:p>
          <a:p>
            <a:endParaRPr lang="en-IN" dirty="0"/>
          </a:p>
          <a:p>
            <a:r>
              <a:rPr lang="en-IN" dirty="0"/>
              <a:t>for token in doc:</a:t>
            </a:r>
          </a:p>
          <a:p>
            <a:r>
              <a:rPr lang="en-IN" dirty="0"/>
              <a:t>    print(</a:t>
            </a:r>
            <a:r>
              <a:rPr lang="en-IN" dirty="0" err="1"/>
              <a:t>token.text</a:t>
            </a:r>
            <a:r>
              <a:rPr lang="en-IN" dirty="0"/>
              <a:t>, "→", </a:t>
            </a:r>
            <a:r>
              <a:rPr lang="en-IN" dirty="0" err="1"/>
              <a:t>token.lemma</a:t>
            </a:r>
            <a:r>
              <a:rPr lang="en-IN" dirty="0"/>
              <a:t>_)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Output:</a:t>
            </a:r>
          </a:p>
          <a:p>
            <a:endParaRPr lang="en-IN" dirty="0"/>
          </a:p>
          <a:p>
            <a:r>
              <a:rPr lang="en-IN" dirty="0"/>
              <a:t>Copy code</a:t>
            </a:r>
          </a:p>
          <a:p>
            <a:r>
              <a:rPr lang="en-IN" dirty="0"/>
              <a:t>The → the</a:t>
            </a:r>
          </a:p>
          <a:p>
            <a:r>
              <a:rPr lang="en-IN" dirty="0"/>
              <a:t>children → child</a:t>
            </a:r>
          </a:p>
          <a:p>
            <a:r>
              <a:rPr lang="en-IN" dirty="0"/>
              <a:t>were → be</a:t>
            </a:r>
          </a:p>
          <a:p>
            <a:r>
              <a:rPr lang="en-IN" dirty="0"/>
              <a:t>running → run</a:t>
            </a:r>
          </a:p>
          <a:p>
            <a:r>
              <a:rPr lang="en-IN" dirty="0"/>
              <a:t>playing → play</a:t>
            </a:r>
          </a:p>
          <a:p>
            <a:r>
              <a:rPr lang="en-IN" dirty="0"/>
              <a:t>gardens → garden</a:t>
            </a:r>
          </a:p>
        </p:txBody>
      </p:sp>
    </p:spTree>
    <p:extLst>
      <p:ext uri="{BB962C8B-B14F-4D97-AF65-F5344CB8AC3E}">
        <p14:creationId xmlns:p14="http://schemas.microsoft.com/office/powerpoint/2010/main" val="2896153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239716-0E24-D9FE-A3D7-EEBB3185FC6A}"/>
              </a:ext>
            </a:extLst>
          </p:cNvPr>
          <p:cNvSpPr txBox="1"/>
          <p:nvPr/>
        </p:nvSpPr>
        <p:spPr>
          <a:xfrm>
            <a:off x="957129" y="1683038"/>
            <a:ext cx="6101696" cy="5027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Definition</a:t>
            </a:r>
          </a:p>
          <a:p>
            <a:pPr>
              <a:lnSpc>
                <a:spcPct val="150000"/>
              </a:lnSpc>
            </a:pPr>
            <a:r>
              <a:rPr lang="en-IN" b="1" dirty="0"/>
              <a:t>Named Entity Recognition (NER)</a:t>
            </a:r>
            <a:r>
              <a:rPr lang="en-IN" dirty="0"/>
              <a:t> is an NLP technique that automatically identifies </a:t>
            </a:r>
            <a:r>
              <a:rPr lang="en-IN" b="1" dirty="0"/>
              <a:t>real-world entities</a:t>
            </a:r>
            <a:r>
              <a:rPr lang="en-IN" dirty="0"/>
              <a:t> in text.</a:t>
            </a:r>
          </a:p>
          <a:p>
            <a:pPr>
              <a:lnSpc>
                <a:spcPct val="150000"/>
              </a:lnSpc>
            </a:pP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Entities include: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PERSON</a:t>
            </a:r>
            <a:r>
              <a:rPr lang="en-IN" dirty="0"/>
              <a:t> → names of people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ORG</a:t>
            </a:r>
            <a:r>
              <a:rPr lang="en-IN" dirty="0"/>
              <a:t> → organizations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GPE</a:t>
            </a:r>
            <a:r>
              <a:rPr lang="en-IN" dirty="0"/>
              <a:t> → countries, cities, states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DATE</a:t>
            </a:r>
            <a:r>
              <a:rPr lang="en-IN" dirty="0"/>
              <a:t> → dates, years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MONEY</a:t>
            </a:r>
            <a:r>
              <a:rPr lang="en-IN" dirty="0"/>
              <a:t> → amounts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LOC</a:t>
            </a:r>
            <a:r>
              <a:rPr lang="en-IN" dirty="0"/>
              <a:t> → locations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EVENT</a:t>
            </a:r>
            <a:r>
              <a:rPr lang="en-IN" dirty="0"/>
              <a:t> → events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A9A989-FC90-4D67-574B-45D2F8EECAB1}"/>
              </a:ext>
            </a:extLst>
          </p:cNvPr>
          <p:cNvSpPr txBox="1"/>
          <p:nvPr/>
        </p:nvSpPr>
        <p:spPr>
          <a:xfrm>
            <a:off x="957129" y="605820"/>
            <a:ext cx="610169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92D050"/>
                </a:solidFill>
              </a:rPr>
              <a:t>Named Entity Recognition (NER) — </a:t>
            </a:r>
            <a:endParaRPr lang="en-IN" sz="3200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6974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0ADB6A5-DBCE-0140-F5C7-46FF0B04A999}"/>
              </a:ext>
            </a:extLst>
          </p:cNvPr>
          <p:cNvSpPr txBox="1"/>
          <p:nvPr/>
        </p:nvSpPr>
        <p:spPr>
          <a:xfrm>
            <a:off x="999858" y="577839"/>
            <a:ext cx="6101696" cy="5858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Why NER is Important?</a:t>
            </a:r>
          </a:p>
          <a:p>
            <a:pPr>
              <a:lnSpc>
                <a:spcPct val="150000"/>
              </a:lnSpc>
            </a:pPr>
            <a:endParaRPr lang="en-GB" b="1" dirty="0"/>
          </a:p>
          <a:p>
            <a:pPr>
              <a:lnSpc>
                <a:spcPct val="150000"/>
              </a:lnSpc>
            </a:pPr>
            <a:r>
              <a:rPr lang="en-GB" dirty="0"/>
              <a:t>NER helps machines understand: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Who is involved?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Where did something happen?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When did it happen?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What organization, product, or location is referenced?</a:t>
            </a:r>
          </a:p>
          <a:p>
            <a:pPr>
              <a:lnSpc>
                <a:spcPct val="150000"/>
              </a:lnSpc>
            </a:pPr>
            <a:endParaRPr lang="en-GB" dirty="0"/>
          </a:p>
          <a:p>
            <a:pPr>
              <a:lnSpc>
                <a:spcPct val="150000"/>
              </a:lnSpc>
            </a:pPr>
            <a:r>
              <a:rPr lang="en-GB" dirty="0"/>
              <a:t>Used in: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Chatbots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Search engines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Fake news detection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Resume parsing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Data extraction</a:t>
            </a:r>
          </a:p>
        </p:txBody>
      </p:sp>
    </p:spTree>
    <p:extLst>
      <p:ext uri="{BB962C8B-B14F-4D97-AF65-F5344CB8AC3E}">
        <p14:creationId xmlns:p14="http://schemas.microsoft.com/office/powerpoint/2010/main" val="1705658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6AC3886-8193-1A07-B9D3-9068478EF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405" y="600924"/>
            <a:ext cx="5785502" cy="54425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spaCy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NER Code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import spacy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nlp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spacy.load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("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en_core_web_sm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text = "Google was founded by Larry Page and Sergey Brin at Stanford University in 1998.“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 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nlp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(text)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for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in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doc.ents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print(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ent.text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ent.label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_)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Google ORG Larry Page PERSON Sergey Brin PERSON Stanford University ORG 1998 DATE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7771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F00D0-DC3E-CFB8-4C01-A0BD69202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Dependency Parsing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5B19EF-9F36-006E-252E-1460749390BA}"/>
              </a:ext>
            </a:extLst>
          </p:cNvPr>
          <p:cNvSpPr txBox="1"/>
          <p:nvPr/>
        </p:nvSpPr>
        <p:spPr>
          <a:xfrm>
            <a:off x="677334" y="2338562"/>
            <a:ext cx="6101696" cy="2949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What is Dependency Parsing?</a:t>
            </a:r>
          </a:p>
          <a:p>
            <a:pPr>
              <a:lnSpc>
                <a:spcPct val="150000"/>
              </a:lnSpc>
            </a:pPr>
            <a:r>
              <a:rPr lang="en-GB" b="1" dirty="0"/>
              <a:t>Dependency Parsing</a:t>
            </a:r>
            <a:r>
              <a:rPr lang="en-GB" dirty="0"/>
              <a:t> is an NLP technique that </a:t>
            </a:r>
            <a:r>
              <a:rPr lang="en-GB" dirty="0" err="1"/>
              <a:t>analyzes</a:t>
            </a:r>
            <a:r>
              <a:rPr lang="en-GB" dirty="0"/>
              <a:t> the </a:t>
            </a:r>
            <a:r>
              <a:rPr lang="en-GB" b="1" dirty="0"/>
              <a:t>grammatical structure</a:t>
            </a:r>
            <a:r>
              <a:rPr lang="en-GB" dirty="0"/>
              <a:t> of a sentence and identifies: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the relationships between words</a:t>
            </a:r>
            <a:r>
              <a:rPr lang="en-GB" dirty="0"/>
              <a:t>,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which word is the main word (head)</a:t>
            </a:r>
            <a:r>
              <a:rPr lang="en-GB" dirty="0"/>
              <a:t>,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and which words depend on it (dependents).</a:t>
            </a:r>
            <a:endParaRPr lang="en-GB" dirty="0"/>
          </a:p>
          <a:p>
            <a:pPr>
              <a:lnSpc>
                <a:spcPct val="150000"/>
              </a:lnSpc>
            </a:pPr>
            <a:r>
              <a:rPr lang="en-GB" dirty="0"/>
              <a:t>It helps machines understand </a:t>
            </a:r>
            <a:r>
              <a:rPr lang="en-GB" i="1" dirty="0"/>
              <a:t>who did what to whom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88224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A238EDD-59D8-745A-DADD-7AA39DCB832F}"/>
              </a:ext>
            </a:extLst>
          </p:cNvPr>
          <p:cNvSpPr txBox="1"/>
          <p:nvPr/>
        </p:nvSpPr>
        <p:spPr>
          <a:xfrm>
            <a:off x="871671" y="1037834"/>
            <a:ext cx="6101696" cy="3365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Why is Dependency Parsing useful?</a:t>
            </a:r>
          </a:p>
          <a:p>
            <a:pPr>
              <a:lnSpc>
                <a:spcPct val="150000"/>
              </a:lnSpc>
            </a:pPr>
            <a:r>
              <a:rPr lang="en-IN" dirty="0"/>
              <a:t>It helps in:</a:t>
            </a:r>
          </a:p>
          <a:p>
            <a:pPr>
              <a:lnSpc>
                <a:spcPct val="150000"/>
              </a:lnSpc>
            </a:pPr>
            <a:r>
              <a:rPr lang="en-IN" dirty="0"/>
              <a:t>✔ Understanding sentence meaning</a:t>
            </a:r>
            <a:br>
              <a:rPr lang="en-IN" dirty="0"/>
            </a:br>
            <a:r>
              <a:rPr lang="en-IN" dirty="0"/>
              <a:t>✔ Information extraction</a:t>
            </a:r>
            <a:br>
              <a:rPr lang="en-IN" dirty="0"/>
            </a:br>
            <a:r>
              <a:rPr lang="en-IN" dirty="0"/>
              <a:t>✔ Chatbots</a:t>
            </a:r>
            <a:br>
              <a:rPr lang="en-IN" dirty="0"/>
            </a:br>
            <a:r>
              <a:rPr lang="en-IN" dirty="0"/>
              <a:t>✔ Sentiment analysis</a:t>
            </a:r>
            <a:br>
              <a:rPr lang="en-IN" dirty="0"/>
            </a:br>
            <a:r>
              <a:rPr lang="en-IN" dirty="0"/>
              <a:t>✔ Machine translation</a:t>
            </a:r>
            <a:br>
              <a:rPr lang="en-IN" dirty="0"/>
            </a:br>
            <a:r>
              <a:rPr lang="en-IN" dirty="0"/>
              <a:t>✔ Question-answering systems</a:t>
            </a:r>
          </a:p>
        </p:txBody>
      </p:sp>
    </p:spTree>
    <p:extLst>
      <p:ext uri="{BB962C8B-B14F-4D97-AF65-F5344CB8AC3E}">
        <p14:creationId xmlns:p14="http://schemas.microsoft.com/office/powerpoint/2010/main" val="28348739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30881E7B-C1FE-2D40-F7A7-2319C0AF4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3323" y="489231"/>
            <a:ext cx="4238714" cy="419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Example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Sentence: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The cat sat on the mat. 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Dependency Relations: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ROOT (main verb)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subject of "sat"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object of the preposition "on"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modifies "sat"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04307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FF72900-642E-A8C3-3FFA-2F3C6171F647}"/>
              </a:ext>
            </a:extLst>
          </p:cNvPr>
          <p:cNvSpPr txBox="1"/>
          <p:nvPr/>
        </p:nvSpPr>
        <p:spPr>
          <a:xfrm>
            <a:off x="965676" y="862193"/>
            <a:ext cx="6101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Common Dependency Labels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5F481D4-7D73-5450-91EB-CFA3BCC5D8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419588"/>
              </p:ext>
            </p:extLst>
          </p:nvPr>
        </p:nvGraphicFramePr>
        <p:xfrm>
          <a:off x="1060215" y="1562382"/>
          <a:ext cx="6101696" cy="388143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050848">
                  <a:extLst>
                    <a:ext uri="{9D8B030D-6E8A-4147-A177-3AD203B41FA5}">
                      <a16:colId xmlns:a16="http://schemas.microsoft.com/office/drawing/2014/main" val="2320179431"/>
                    </a:ext>
                  </a:extLst>
                </a:gridCol>
                <a:gridCol w="3050848">
                  <a:extLst>
                    <a:ext uri="{9D8B030D-6E8A-4147-A177-3AD203B41FA5}">
                      <a16:colId xmlns:a16="http://schemas.microsoft.com/office/drawing/2014/main" val="1643454308"/>
                    </a:ext>
                  </a:extLst>
                </a:gridCol>
              </a:tblGrid>
              <a:tr h="352858">
                <a:tc>
                  <a:txBody>
                    <a:bodyPr/>
                    <a:lstStyle/>
                    <a:p>
                      <a:r>
                        <a:rPr lang="en-IN" sz="1700"/>
                        <a:t>Label</a:t>
                      </a:r>
                    </a:p>
                  </a:txBody>
                  <a:tcPr marL="88214" marR="88214" marT="44107" marB="44107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Meaning</a:t>
                      </a:r>
                    </a:p>
                  </a:txBody>
                  <a:tcPr marL="88214" marR="88214" marT="44107" marB="44107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342784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r>
                        <a:rPr lang="en-IN" sz="1700" b="1"/>
                        <a:t>ROOT</a:t>
                      </a:r>
                      <a:endParaRPr lang="en-IN" sz="1700"/>
                    </a:p>
                  </a:txBody>
                  <a:tcPr marL="88214" marR="88214" marT="44107" marB="44107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Main verb of sentence</a:t>
                      </a:r>
                    </a:p>
                  </a:txBody>
                  <a:tcPr marL="88214" marR="88214" marT="44107" marB="44107" anchor="ctr"/>
                </a:tc>
                <a:extLst>
                  <a:ext uri="{0D108BD9-81ED-4DB2-BD59-A6C34878D82A}">
                    <a16:rowId xmlns:a16="http://schemas.microsoft.com/office/drawing/2014/main" val="2586100986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r>
                        <a:rPr lang="en-IN" sz="1700" b="1"/>
                        <a:t>nsubj</a:t>
                      </a:r>
                      <a:endParaRPr lang="en-IN" sz="1700"/>
                    </a:p>
                  </a:txBody>
                  <a:tcPr marL="88214" marR="88214" marT="44107" marB="44107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Nominal subject</a:t>
                      </a:r>
                    </a:p>
                  </a:txBody>
                  <a:tcPr marL="88214" marR="88214" marT="44107" marB="44107" anchor="ctr"/>
                </a:tc>
                <a:extLst>
                  <a:ext uri="{0D108BD9-81ED-4DB2-BD59-A6C34878D82A}">
                    <a16:rowId xmlns:a16="http://schemas.microsoft.com/office/drawing/2014/main" val="2135133315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r>
                        <a:rPr lang="en-IN" sz="1700" b="1"/>
                        <a:t>dobj</a:t>
                      </a:r>
                      <a:endParaRPr lang="en-IN" sz="1700"/>
                    </a:p>
                  </a:txBody>
                  <a:tcPr marL="88214" marR="88214" marT="44107" marB="44107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Direct object</a:t>
                      </a:r>
                    </a:p>
                  </a:txBody>
                  <a:tcPr marL="88214" marR="88214" marT="44107" marB="44107" anchor="ctr"/>
                </a:tc>
                <a:extLst>
                  <a:ext uri="{0D108BD9-81ED-4DB2-BD59-A6C34878D82A}">
                    <a16:rowId xmlns:a16="http://schemas.microsoft.com/office/drawing/2014/main" val="2508575775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r>
                        <a:rPr lang="en-IN" sz="1700" b="1"/>
                        <a:t>iobj</a:t>
                      </a:r>
                      <a:endParaRPr lang="en-IN" sz="1700"/>
                    </a:p>
                  </a:txBody>
                  <a:tcPr marL="88214" marR="88214" marT="44107" marB="44107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Indirect object</a:t>
                      </a:r>
                    </a:p>
                  </a:txBody>
                  <a:tcPr marL="88214" marR="88214" marT="44107" marB="44107" anchor="ctr"/>
                </a:tc>
                <a:extLst>
                  <a:ext uri="{0D108BD9-81ED-4DB2-BD59-A6C34878D82A}">
                    <a16:rowId xmlns:a16="http://schemas.microsoft.com/office/drawing/2014/main" val="360323956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r>
                        <a:rPr lang="en-IN" sz="1700" b="1"/>
                        <a:t>amod</a:t>
                      </a:r>
                      <a:endParaRPr lang="en-IN" sz="1700"/>
                    </a:p>
                  </a:txBody>
                  <a:tcPr marL="88214" marR="88214" marT="44107" marB="44107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Adjective modifier</a:t>
                      </a:r>
                    </a:p>
                  </a:txBody>
                  <a:tcPr marL="88214" marR="88214" marT="44107" marB="44107" anchor="ctr"/>
                </a:tc>
                <a:extLst>
                  <a:ext uri="{0D108BD9-81ED-4DB2-BD59-A6C34878D82A}">
                    <a16:rowId xmlns:a16="http://schemas.microsoft.com/office/drawing/2014/main" val="3007609334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r>
                        <a:rPr lang="en-IN" sz="1700" b="1"/>
                        <a:t>advmod</a:t>
                      </a:r>
                      <a:endParaRPr lang="en-IN" sz="1700"/>
                    </a:p>
                  </a:txBody>
                  <a:tcPr marL="88214" marR="88214" marT="44107" marB="44107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Adverb modifier</a:t>
                      </a:r>
                    </a:p>
                  </a:txBody>
                  <a:tcPr marL="88214" marR="88214" marT="44107" marB="44107" anchor="ctr"/>
                </a:tc>
                <a:extLst>
                  <a:ext uri="{0D108BD9-81ED-4DB2-BD59-A6C34878D82A}">
                    <a16:rowId xmlns:a16="http://schemas.microsoft.com/office/drawing/2014/main" val="2914942474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r>
                        <a:rPr lang="en-IN" sz="1700" b="1"/>
                        <a:t>prep</a:t>
                      </a:r>
                      <a:endParaRPr lang="en-IN" sz="1700"/>
                    </a:p>
                  </a:txBody>
                  <a:tcPr marL="88214" marR="88214" marT="44107" marB="44107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Prepositional modifier</a:t>
                      </a:r>
                    </a:p>
                  </a:txBody>
                  <a:tcPr marL="88214" marR="88214" marT="44107" marB="44107" anchor="ctr"/>
                </a:tc>
                <a:extLst>
                  <a:ext uri="{0D108BD9-81ED-4DB2-BD59-A6C34878D82A}">
                    <a16:rowId xmlns:a16="http://schemas.microsoft.com/office/drawing/2014/main" val="3364094470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r>
                        <a:rPr lang="en-IN" sz="1700" b="1"/>
                        <a:t>pobj</a:t>
                      </a:r>
                      <a:endParaRPr lang="en-IN" sz="1700"/>
                    </a:p>
                  </a:txBody>
                  <a:tcPr marL="88214" marR="88214" marT="44107" marB="44107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Object of preposition</a:t>
                      </a:r>
                    </a:p>
                  </a:txBody>
                  <a:tcPr marL="88214" marR="88214" marT="44107" marB="44107" anchor="ctr"/>
                </a:tc>
                <a:extLst>
                  <a:ext uri="{0D108BD9-81ED-4DB2-BD59-A6C34878D82A}">
                    <a16:rowId xmlns:a16="http://schemas.microsoft.com/office/drawing/2014/main" val="165495897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r>
                        <a:rPr lang="en-IN" sz="1700" b="1"/>
                        <a:t>conj</a:t>
                      </a:r>
                      <a:endParaRPr lang="en-IN" sz="1700"/>
                    </a:p>
                  </a:txBody>
                  <a:tcPr marL="88214" marR="88214" marT="44107" marB="44107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Conjunction</a:t>
                      </a:r>
                    </a:p>
                  </a:txBody>
                  <a:tcPr marL="88214" marR="88214" marT="44107" marB="44107" anchor="ctr"/>
                </a:tc>
                <a:extLst>
                  <a:ext uri="{0D108BD9-81ED-4DB2-BD59-A6C34878D82A}">
                    <a16:rowId xmlns:a16="http://schemas.microsoft.com/office/drawing/2014/main" val="1096574590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r>
                        <a:rPr lang="en-IN" sz="1700" b="1"/>
                        <a:t>det</a:t>
                      </a:r>
                      <a:endParaRPr lang="en-IN" sz="1700"/>
                    </a:p>
                  </a:txBody>
                  <a:tcPr marL="88214" marR="88214" marT="44107" marB="44107" anchor="ctr"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Determiner (the, a)</a:t>
                      </a:r>
                    </a:p>
                  </a:txBody>
                  <a:tcPr marL="88214" marR="88214" marT="44107" marB="44107" anchor="ctr"/>
                </a:tc>
                <a:extLst>
                  <a:ext uri="{0D108BD9-81ED-4DB2-BD59-A6C34878D82A}">
                    <a16:rowId xmlns:a16="http://schemas.microsoft.com/office/drawing/2014/main" val="304211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85782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311A4438-14E0-329F-5DB2-62D658D5F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312" y="751344"/>
            <a:ext cx="7486116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import spacy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nlp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spacy.load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("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en_core_web_sm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text = "John bought a new car yesterday."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doc =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nlp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(text)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for token in doc: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print(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token.text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"→",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token.dep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_, "→",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token.head.text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Output: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John →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nsubj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→ bought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bought → ROOT → bought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 → det → car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new →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amod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→ car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car →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dobj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→ bought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yesterday →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npadvmod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→ bought</a:t>
            </a:r>
          </a:p>
        </p:txBody>
      </p:sp>
    </p:spTree>
    <p:extLst>
      <p:ext uri="{BB962C8B-B14F-4D97-AF65-F5344CB8AC3E}">
        <p14:creationId xmlns:p14="http://schemas.microsoft.com/office/powerpoint/2010/main" val="14250310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C3147-5EB4-DD64-F56F-2FFC536F4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341" y="2395671"/>
            <a:ext cx="8596668" cy="1320800"/>
          </a:xfrm>
        </p:spPr>
        <p:txBody>
          <a:bodyPr/>
          <a:lstStyle/>
          <a:p>
            <a:r>
              <a:rPr lang="en-IN" b="1" dirty="0"/>
              <a:t>Machine Learning / Deep Learning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0853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77230-9EFD-B2B9-161E-101A31523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Machine Learning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9E005-C980-762B-F3A3-868B81456F87}"/>
              </a:ext>
            </a:extLst>
          </p:cNvPr>
          <p:cNvSpPr txBox="1"/>
          <p:nvPr/>
        </p:nvSpPr>
        <p:spPr>
          <a:xfrm>
            <a:off x="905854" y="1310022"/>
            <a:ext cx="7896314" cy="2118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Definition</a:t>
            </a:r>
          </a:p>
          <a:p>
            <a:pPr>
              <a:lnSpc>
                <a:spcPct val="150000"/>
              </a:lnSpc>
            </a:pPr>
            <a:r>
              <a:rPr lang="en-GB" b="1" dirty="0"/>
              <a:t>Machine Learning is a field of AI that allows computers to learn from data and make predictions or decisions without being explicitly programmed.</a:t>
            </a:r>
            <a:endParaRPr lang="en-GB" dirty="0"/>
          </a:p>
          <a:p>
            <a:pPr>
              <a:lnSpc>
                <a:spcPct val="150000"/>
              </a:lnSpc>
            </a:pPr>
            <a:r>
              <a:rPr lang="en-GB" dirty="0"/>
              <a:t>ML uses algorithms to find patterns in data.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1FBE82-13DF-FF02-6D7C-AC778CC3618C}"/>
              </a:ext>
            </a:extLst>
          </p:cNvPr>
          <p:cNvSpPr txBox="1"/>
          <p:nvPr/>
        </p:nvSpPr>
        <p:spPr>
          <a:xfrm>
            <a:off x="905854" y="3660197"/>
            <a:ext cx="8229600" cy="2949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Examples of Machine Learning</a:t>
            </a:r>
          </a:p>
          <a:p>
            <a:pPr>
              <a:lnSpc>
                <a:spcPct val="150000"/>
              </a:lnSpc>
            </a:pPr>
            <a:r>
              <a:rPr lang="en-GB" b="1" dirty="0"/>
              <a:t>✔ Spam Detection</a:t>
            </a:r>
          </a:p>
          <a:p>
            <a:pPr>
              <a:lnSpc>
                <a:spcPct val="150000"/>
              </a:lnSpc>
            </a:pPr>
            <a:r>
              <a:rPr lang="en-GB" dirty="0"/>
              <a:t>Emails are </a:t>
            </a:r>
            <a:r>
              <a:rPr lang="en-GB" dirty="0" err="1"/>
              <a:t>labeled</a:t>
            </a:r>
            <a:r>
              <a:rPr lang="en-GB" dirty="0"/>
              <a:t> “spam” or “not spam” and the model learns patterns.</a:t>
            </a:r>
          </a:p>
          <a:p>
            <a:pPr>
              <a:lnSpc>
                <a:spcPct val="150000"/>
              </a:lnSpc>
            </a:pPr>
            <a:r>
              <a:rPr lang="en-GB" b="1" dirty="0"/>
              <a:t>✔ Fake News Detection</a:t>
            </a:r>
          </a:p>
          <a:p>
            <a:pPr>
              <a:lnSpc>
                <a:spcPct val="150000"/>
              </a:lnSpc>
            </a:pPr>
            <a:r>
              <a:rPr lang="en-GB" dirty="0"/>
              <a:t>Model learns features of real vs. fake news articles.</a:t>
            </a:r>
          </a:p>
          <a:p>
            <a:pPr>
              <a:lnSpc>
                <a:spcPct val="150000"/>
              </a:lnSpc>
            </a:pPr>
            <a:r>
              <a:rPr lang="en-GB" b="1" dirty="0"/>
              <a:t>✔ Sentiment Analysis</a:t>
            </a:r>
          </a:p>
          <a:p>
            <a:pPr>
              <a:lnSpc>
                <a:spcPct val="150000"/>
              </a:lnSpc>
            </a:pPr>
            <a:r>
              <a:rPr lang="en-GB" dirty="0"/>
              <a:t>Predict whether a text is positive, negative, or neutral.</a:t>
            </a:r>
          </a:p>
        </p:txBody>
      </p:sp>
    </p:spTree>
    <p:extLst>
      <p:ext uri="{BB962C8B-B14F-4D97-AF65-F5344CB8AC3E}">
        <p14:creationId xmlns:p14="http://schemas.microsoft.com/office/powerpoint/2010/main" val="26787379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42A26-E166-7B80-8F2A-D6A1F3840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Machine Learning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E59EDC5-63D8-4EBB-16D7-C374E1A991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9846563"/>
              </p:ext>
            </p:extLst>
          </p:nvPr>
        </p:nvGraphicFramePr>
        <p:xfrm>
          <a:off x="677691" y="2035360"/>
          <a:ext cx="8596311" cy="22860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865437">
                  <a:extLst>
                    <a:ext uri="{9D8B030D-6E8A-4147-A177-3AD203B41FA5}">
                      <a16:colId xmlns:a16="http://schemas.microsoft.com/office/drawing/2014/main" val="338732920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1712230841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16397671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2587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Supervised Learning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Model learns from labeled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Spam vs. not spam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0304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Unsupervised Learning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Finds patterns without labels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Clustering news topics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2198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Reinforcement Learning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Learns from rewards and penalties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Training robots, game 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92713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92403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AC62E-58B8-814F-8D9A-F03341BD6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ML Pipeline for NLP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1526B-F83E-6307-EF46-64E4DD32E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IN" dirty="0"/>
              <a:t>Data collection</a:t>
            </a:r>
          </a:p>
          <a:p>
            <a:pPr>
              <a:buFont typeface="+mj-lt"/>
              <a:buAutoNum type="arabicPeriod"/>
            </a:pPr>
            <a:r>
              <a:rPr lang="en-IN" dirty="0"/>
              <a:t>Text preprocessing (tokenization, </a:t>
            </a:r>
            <a:r>
              <a:rPr lang="en-IN" dirty="0" err="1"/>
              <a:t>stopwords</a:t>
            </a:r>
            <a:r>
              <a:rPr lang="en-IN" dirty="0"/>
              <a:t>, lemmatization)</a:t>
            </a:r>
          </a:p>
          <a:p>
            <a:pPr>
              <a:buFont typeface="+mj-lt"/>
              <a:buAutoNum type="arabicPeriod"/>
            </a:pPr>
            <a:r>
              <a:rPr lang="en-IN" dirty="0"/>
              <a:t>Feature extraction (TF-IDF, </a:t>
            </a:r>
            <a:r>
              <a:rPr lang="en-IN" dirty="0" err="1"/>
              <a:t>BoW</a:t>
            </a:r>
            <a:r>
              <a:rPr lang="en-IN" dirty="0"/>
              <a:t>)</a:t>
            </a:r>
          </a:p>
          <a:p>
            <a:pPr>
              <a:buFont typeface="+mj-lt"/>
              <a:buAutoNum type="arabicPeriod"/>
            </a:pPr>
            <a:r>
              <a:rPr lang="en-IN" dirty="0"/>
              <a:t>Model training (Naive Bayes, SVM, Logistic Regression)</a:t>
            </a:r>
          </a:p>
          <a:p>
            <a:pPr>
              <a:buFont typeface="+mj-lt"/>
              <a:buAutoNum type="arabicPeriod"/>
            </a:pPr>
            <a:r>
              <a:rPr lang="en-IN" dirty="0"/>
              <a:t>Evaluation (accuracy, precision, recall)</a:t>
            </a:r>
          </a:p>
          <a:p>
            <a:pPr>
              <a:buFont typeface="+mj-lt"/>
              <a:buAutoNum type="arabicPeriod"/>
            </a:pPr>
            <a:r>
              <a:rPr lang="en-IN" dirty="0"/>
              <a:t>Deployment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36907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DD7F7-D4B7-1E19-5860-F5ED55D06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Popular ML Algorithms Used in NLP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7BA194B-2D69-D661-9F99-FBE4916F25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2612" y="1674674"/>
            <a:ext cx="356065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Naive Bayes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Regression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Vector Machines (SVM)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 Trees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KNN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6E0ABB-F29E-9808-4932-92C9DDCA35E6}"/>
              </a:ext>
            </a:extLst>
          </p:cNvPr>
          <p:cNvSpPr txBox="1"/>
          <p:nvPr/>
        </p:nvSpPr>
        <p:spPr>
          <a:xfrm>
            <a:off x="822612" y="3806959"/>
            <a:ext cx="61016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Example Use Case (Fake News Detection)</a:t>
            </a:r>
          </a:p>
          <a:p>
            <a:r>
              <a:rPr lang="en-GB" dirty="0"/>
              <a:t>Input: A news article</a:t>
            </a:r>
            <a:br>
              <a:rPr lang="en-GB" dirty="0"/>
            </a:br>
            <a:r>
              <a:rPr lang="en-GB" dirty="0"/>
              <a:t>ML Algorithm → predicts </a:t>
            </a:r>
            <a:r>
              <a:rPr lang="en-GB" b="1" dirty="0"/>
              <a:t>FAKE</a:t>
            </a:r>
            <a:r>
              <a:rPr lang="en-GB" dirty="0"/>
              <a:t> or </a:t>
            </a:r>
            <a:r>
              <a:rPr lang="en-GB" b="1" dirty="0"/>
              <a:t>REAL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57066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24073-9319-4A38-1EA7-CAC538A4C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Naive Bayes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906C17A-6365-5E91-5EC1-EE5AC378CC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636881"/>
            <a:ext cx="8731586" cy="4611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Naive Bayes is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probabilistic classifier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based on Bayes’ theorem.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Called “naive” because it assumes that all features are independent.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Where it is used in NLP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Spam detection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Sentiment analysis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 classification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"This movie is amazing!"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predicts: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Positive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5787FC-8D61-BB90-3605-ED61818C9022}"/>
              </a:ext>
            </a:extLst>
          </p:cNvPr>
          <p:cNvSpPr txBox="1"/>
          <p:nvPr/>
        </p:nvSpPr>
        <p:spPr>
          <a:xfrm>
            <a:off x="5546221" y="3650360"/>
            <a:ext cx="3247401" cy="170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Advantages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Fast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Works well with text data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Good with large vocabulary</a:t>
            </a:r>
          </a:p>
        </p:txBody>
      </p:sp>
    </p:spTree>
    <p:extLst>
      <p:ext uri="{BB962C8B-B14F-4D97-AF65-F5344CB8AC3E}">
        <p14:creationId xmlns:p14="http://schemas.microsoft.com/office/powerpoint/2010/main" val="23881371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09A7A-14DD-78D8-387F-4B62A0C63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Logistic Regression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B7CD4B3-8223-259B-78DB-A013E6B39E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5700" y="1763685"/>
            <a:ext cx="7481928" cy="419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Regression is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binary classification algorithm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predicts whether something belongs to class A or class B using probability.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Where it is used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Fake news detection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Yes/No classification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Sentiment analysis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Is this news fake? → Yes/No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82B33-38DF-C0D3-AB58-80D557DBC1D1}"/>
              </a:ext>
            </a:extLst>
          </p:cNvPr>
          <p:cNvSpPr txBox="1"/>
          <p:nvPr/>
        </p:nvSpPr>
        <p:spPr>
          <a:xfrm>
            <a:off x="6185184" y="4004271"/>
            <a:ext cx="2042444" cy="1287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Advantages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High accuracy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Easy to interpret</a:t>
            </a:r>
          </a:p>
        </p:txBody>
      </p:sp>
    </p:spTree>
    <p:extLst>
      <p:ext uri="{BB962C8B-B14F-4D97-AF65-F5344CB8AC3E}">
        <p14:creationId xmlns:p14="http://schemas.microsoft.com/office/powerpoint/2010/main" val="1867497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BFBB3-7C98-12EC-40E3-7AD2FBF6B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821" y="113944"/>
            <a:ext cx="8596668" cy="1320800"/>
          </a:xfrm>
        </p:spPr>
        <p:txBody>
          <a:bodyPr/>
          <a:lstStyle/>
          <a:p>
            <a:r>
              <a:rPr lang="en-IN" dirty="0"/>
              <a:t>Support Vector Machines (SVM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75F3A-B6A4-81B4-A7CB-E77CA2ECD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671" y="774344"/>
            <a:ext cx="8496968" cy="3669469"/>
          </a:xfrm>
        </p:spPr>
        <p:txBody>
          <a:bodyPr>
            <a:noAutofit/>
          </a:bodyPr>
          <a:lstStyle/>
          <a:p>
            <a:r>
              <a:rPr lang="en-GB" b="1" dirty="0"/>
              <a:t>Definition</a:t>
            </a:r>
          </a:p>
          <a:p>
            <a:pPr marL="0" indent="0">
              <a:buNone/>
            </a:pPr>
            <a:r>
              <a:rPr lang="en-GB" dirty="0"/>
              <a:t>           SVM finds the </a:t>
            </a:r>
            <a:r>
              <a:rPr lang="en-GB" b="1" dirty="0"/>
              <a:t>best boundary (hyperplane)</a:t>
            </a:r>
            <a:r>
              <a:rPr lang="en-GB" dirty="0"/>
              <a:t> that separates different classes.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b="1" dirty="0"/>
              <a:t>Where it is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Text classification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Spam detection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Fake news detection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lnSpc>
                <a:spcPct val="170000"/>
              </a:lnSpc>
            </a:pPr>
            <a:r>
              <a:rPr lang="en-GB" b="1" dirty="0"/>
              <a:t>Example</a:t>
            </a:r>
          </a:p>
          <a:p>
            <a:pPr marL="0" indent="0">
              <a:buNone/>
            </a:pPr>
            <a:r>
              <a:rPr lang="en-GB" dirty="0"/>
              <a:t>          SVM draws a boundary separating “spam” vs “not spam”.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b="1" dirty="0"/>
              <a:t>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Works well in high-dimensional spaces (text data)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Very accurate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76576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F64B9-E81E-17ED-C33D-7EAD33886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18" y="284860"/>
            <a:ext cx="8596668" cy="1320800"/>
          </a:xfrm>
        </p:spPr>
        <p:txBody>
          <a:bodyPr/>
          <a:lstStyle/>
          <a:p>
            <a:r>
              <a:rPr lang="en-IN" dirty="0"/>
              <a:t>Decision Trees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319C46B-9604-2119-59D4-D940940763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8429" y="1013634"/>
            <a:ext cx="7968913" cy="58580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tree-like model where decisions are made by splitting data based on rules.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Where it is used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classification tasks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Feature-based prediction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 Decision Rule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word_count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&gt; 300 → Real news Else → Fake news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Advantages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 to understand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7174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857D9-EB62-5416-5958-C9B077C76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0" y="293405"/>
            <a:ext cx="8596668" cy="1320800"/>
          </a:xfrm>
        </p:spPr>
        <p:txBody>
          <a:bodyPr/>
          <a:lstStyle/>
          <a:p>
            <a:r>
              <a:rPr lang="en-IN" dirty="0"/>
              <a:t>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88153-07CA-845E-89D1-4B6B7DA7A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876" y="1143640"/>
            <a:ext cx="8596668" cy="388077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1600" b="1" dirty="0"/>
              <a:t>Definition</a:t>
            </a:r>
          </a:p>
          <a:p>
            <a:pPr>
              <a:lnSpc>
                <a:spcPct val="150000"/>
              </a:lnSpc>
            </a:pPr>
            <a:r>
              <a:rPr lang="en-GB" sz="1600" dirty="0"/>
              <a:t>Random Forest is an </a:t>
            </a:r>
            <a:r>
              <a:rPr lang="en-GB" sz="1600" b="1" dirty="0"/>
              <a:t>ensemble</a:t>
            </a:r>
            <a:r>
              <a:rPr lang="en-GB" sz="1600" dirty="0"/>
              <a:t> of many decision trees.</a:t>
            </a:r>
            <a:br>
              <a:rPr lang="en-GB" sz="1600" dirty="0"/>
            </a:br>
            <a:r>
              <a:rPr lang="en-GB" sz="1600" dirty="0"/>
              <a:t>Each tree makes a prediction, and the majority vote is the output.</a:t>
            </a:r>
          </a:p>
          <a:p>
            <a:pPr>
              <a:lnSpc>
                <a:spcPct val="150000"/>
              </a:lnSpc>
            </a:pPr>
            <a:r>
              <a:rPr lang="en-GB" sz="1600" b="1" dirty="0"/>
              <a:t>Where it is used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Fake news detection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Text classification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Sentiment analysis</a:t>
            </a:r>
          </a:p>
          <a:p>
            <a:pPr>
              <a:lnSpc>
                <a:spcPct val="150000"/>
              </a:lnSpc>
            </a:pPr>
            <a:r>
              <a:rPr lang="en-GB" sz="1600" b="1" dirty="0"/>
              <a:t>Example</a:t>
            </a:r>
          </a:p>
          <a:p>
            <a:pPr>
              <a:lnSpc>
                <a:spcPct val="150000"/>
              </a:lnSpc>
            </a:pPr>
            <a:r>
              <a:rPr lang="en-GB" sz="1600" dirty="0"/>
              <a:t>10 trees predict news as: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7 → Real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3 → Fake</a:t>
            </a:r>
            <a:br>
              <a:rPr lang="en-GB" sz="1600" dirty="0"/>
            </a:br>
            <a:r>
              <a:rPr lang="en-GB" sz="1600" dirty="0"/>
              <a:t>Final output: </a:t>
            </a:r>
            <a:r>
              <a:rPr lang="en-GB" sz="1600" b="1" dirty="0"/>
              <a:t>Real</a:t>
            </a:r>
            <a:endParaRPr lang="en-GB" sz="1600" dirty="0"/>
          </a:p>
          <a:p>
            <a:pPr>
              <a:lnSpc>
                <a:spcPct val="150000"/>
              </a:lnSpc>
            </a:pPr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936D1E-560C-E5E3-21D3-4D43491EEA4D}"/>
              </a:ext>
            </a:extLst>
          </p:cNvPr>
          <p:cNvSpPr txBox="1"/>
          <p:nvPr/>
        </p:nvSpPr>
        <p:spPr>
          <a:xfrm>
            <a:off x="4984214" y="3943692"/>
            <a:ext cx="6101696" cy="1287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b="1" dirty="0"/>
              <a:t>Advantages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dirty="0"/>
              <a:t>High accuracy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dirty="0"/>
              <a:t>Handles noisy data well</a:t>
            </a:r>
          </a:p>
        </p:txBody>
      </p:sp>
    </p:spTree>
    <p:extLst>
      <p:ext uri="{BB962C8B-B14F-4D97-AF65-F5344CB8AC3E}">
        <p14:creationId xmlns:p14="http://schemas.microsoft.com/office/powerpoint/2010/main" val="22244695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F0332-1E19-A120-CF8F-D2AA5FCA2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Transformer Models &amp; Fine-Tuning for Classification</a:t>
            </a:r>
            <a:br>
              <a:rPr lang="en-GB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B9628-E6AC-D309-93EC-219056C56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BERT • </a:t>
            </a:r>
            <a:r>
              <a:rPr lang="en-GB" dirty="0" err="1"/>
              <a:t>RoBERTa</a:t>
            </a:r>
            <a:r>
              <a:rPr lang="en-GB" dirty="0"/>
              <a:t> • </a:t>
            </a:r>
            <a:r>
              <a:rPr lang="en-GB" dirty="0" err="1"/>
              <a:t>DistilBERT</a:t>
            </a:r>
            <a:br>
              <a:rPr lang="en-GB" dirty="0"/>
            </a:br>
            <a:r>
              <a:rPr lang="en-GB" dirty="0"/>
              <a:t>Applications in Fake News Detection &amp; NLP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2306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5354D-719E-8275-6A18-3CE1A2C0B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Transformer Models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8441C-D722-57E9-A88B-1703638F9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What Are Transformers?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Deep-learning models based on </a:t>
            </a:r>
            <a:r>
              <a:rPr lang="en-IN" b="1" dirty="0"/>
              <a:t>self-attention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Understand full sentence context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Replace RNNs/LSTMs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Used for NLP tasks: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Text Classification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Sentiment Analysis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Fake News Detection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Question Answering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30210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D080B-8388-9D07-6C25-E6E3C5EA5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BERT (Bidirectional Encoder Representations)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448CC-E45D-9247-B6C9-64388F7CA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BERT (Bidirectional Encoder Representations)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Introduced by Google (2018)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Bidirectional context understanding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Pretrained 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Masked Language </a:t>
            </a:r>
            <a:r>
              <a:rPr lang="en-IN" dirty="0" err="1"/>
              <a:t>Modeling</a:t>
            </a:r>
            <a:r>
              <a:rPr lang="en-IN" dirty="0"/>
              <a:t> (MLM)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Next Sentence Prediction (NSP)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Excellent for: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Sentiment analysis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Fake news detection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Named entity recognition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95607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BFE2C-C02F-2536-32AD-3E5F01565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RoBERTa</a:t>
            </a:r>
            <a:r>
              <a:rPr lang="en-GB" b="1" dirty="0"/>
              <a:t> (Optimized BERT)</a:t>
            </a:r>
            <a:br>
              <a:rPr lang="en-GB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3DF6B-7137-E65C-E7F5-E4771B01A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err="1"/>
              <a:t>RoBERTa</a:t>
            </a:r>
            <a:r>
              <a:rPr lang="en-GB" b="1" dirty="0"/>
              <a:t> (Optimized BERT)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Developed by Facebook AI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Improvements: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No NSP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Trained on 10× more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Dynamic masking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Better accuracy</a:t>
            </a:r>
            <a:r>
              <a:rPr lang="en-GB" dirty="0"/>
              <a:t> than BERT on almost all benchmarks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Best for high-accuracy classification tasks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7535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CE5F3-9C24-06FB-D9BC-EBA797716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DistilBERT</a:t>
            </a:r>
            <a:r>
              <a:rPr lang="en-GB" b="1" dirty="0"/>
              <a:t> (Lightweight BERT)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8EC21-4566-B6EA-7B93-B3BF52B7B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err="1"/>
              <a:t>DistilBERT</a:t>
            </a:r>
            <a:r>
              <a:rPr lang="en-GB" b="1" dirty="0"/>
              <a:t> (Lightweight BERT)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Developed by </a:t>
            </a:r>
            <a:r>
              <a:rPr lang="en-GB" dirty="0" err="1"/>
              <a:t>HuggingFace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40% smaller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60% faster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Retains 95% of BERT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Perfect for: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Mobile apps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Real-time systems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Low-latency prediction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74946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56CA1-AEF5-67A5-B405-76884E079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Compare Models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E61F9EF-ED1E-0D7D-8AF7-FEDC0CD721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822270"/>
              </p:ext>
            </p:extLst>
          </p:nvPr>
        </p:nvGraphicFramePr>
        <p:xfrm>
          <a:off x="677692" y="2113127"/>
          <a:ext cx="8596310" cy="17373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719262">
                  <a:extLst>
                    <a:ext uri="{9D8B030D-6E8A-4147-A177-3AD203B41FA5}">
                      <a16:colId xmlns:a16="http://schemas.microsoft.com/office/drawing/2014/main" val="1091893514"/>
                    </a:ext>
                  </a:extLst>
                </a:gridCol>
                <a:gridCol w="1719262">
                  <a:extLst>
                    <a:ext uri="{9D8B030D-6E8A-4147-A177-3AD203B41FA5}">
                      <a16:colId xmlns:a16="http://schemas.microsoft.com/office/drawing/2014/main" val="1064154075"/>
                    </a:ext>
                  </a:extLst>
                </a:gridCol>
                <a:gridCol w="1719262">
                  <a:extLst>
                    <a:ext uri="{9D8B030D-6E8A-4147-A177-3AD203B41FA5}">
                      <a16:colId xmlns:a16="http://schemas.microsoft.com/office/drawing/2014/main" val="39304583"/>
                    </a:ext>
                  </a:extLst>
                </a:gridCol>
                <a:gridCol w="1719262">
                  <a:extLst>
                    <a:ext uri="{9D8B030D-6E8A-4147-A177-3AD203B41FA5}">
                      <a16:colId xmlns:a16="http://schemas.microsoft.com/office/drawing/2014/main" val="3416761180"/>
                    </a:ext>
                  </a:extLst>
                </a:gridCol>
                <a:gridCol w="1719262">
                  <a:extLst>
                    <a:ext uri="{9D8B030D-6E8A-4147-A177-3AD203B41FA5}">
                      <a16:colId xmlns:a16="http://schemas.microsoft.com/office/drawing/2014/main" val="24096314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Best 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4981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BERT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Large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Research / Servers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9710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RoBERTa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Larger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Very 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Best 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9526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DistilBERT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Small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Medium-High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Real-time apps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6519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50089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E0D17-FC68-1DC4-9789-C77491394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Fake News Classification Workflow</a:t>
            </a:r>
            <a:br>
              <a:rPr lang="en-GB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22C5B-F31D-24F1-C234-AB96DD531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Fake News Classification Workflow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Input news text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Preprocessing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Tokenization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Transformer (BERT/</a:t>
            </a:r>
            <a:r>
              <a:rPr lang="en-GB" dirty="0" err="1"/>
              <a:t>RoBERTa</a:t>
            </a:r>
            <a:r>
              <a:rPr lang="en-GB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Output: </a:t>
            </a:r>
            <a:r>
              <a:rPr lang="en-GB" b="1" dirty="0"/>
              <a:t>Fake / Real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Confidence score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36544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E28E1-1FBA-6832-EF01-112731F8F9C4}"/>
              </a:ext>
            </a:extLst>
          </p:cNvPr>
          <p:cNvSpPr txBox="1"/>
          <p:nvPr/>
        </p:nvSpPr>
        <p:spPr>
          <a:xfrm>
            <a:off x="817547" y="225447"/>
            <a:ext cx="6101696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92D050"/>
                </a:solidFill>
              </a:rPr>
              <a:t>Code:</a:t>
            </a:r>
          </a:p>
          <a:p>
            <a:r>
              <a:rPr lang="en-IN" sz="1400" dirty="0"/>
              <a:t>from transformers import </a:t>
            </a:r>
            <a:r>
              <a:rPr lang="en-IN" sz="1400" dirty="0" err="1"/>
              <a:t>BertTokenizer</a:t>
            </a:r>
            <a:r>
              <a:rPr lang="en-IN" sz="1400" dirty="0"/>
              <a:t>, </a:t>
            </a:r>
            <a:r>
              <a:rPr lang="en-IN" sz="1400" dirty="0" err="1"/>
              <a:t>BertForSequenceClassification</a:t>
            </a:r>
            <a:endParaRPr lang="en-IN" sz="1400" dirty="0"/>
          </a:p>
          <a:p>
            <a:r>
              <a:rPr lang="en-IN" sz="1400" dirty="0"/>
              <a:t>from transformers import Trainer, </a:t>
            </a:r>
            <a:r>
              <a:rPr lang="en-IN" sz="1400" dirty="0" err="1"/>
              <a:t>TrainingArguments</a:t>
            </a:r>
            <a:endParaRPr lang="en-IN" sz="1400" dirty="0"/>
          </a:p>
          <a:p>
            <a:r>
              <a:rPr lang="en-IN" sz="1400" dirty="0"/>
              <a:t>from datasets import </a:t>
            </a:r>
            <a:r>
              <a:rPr lang="en-IN" sz="1400" dirty="0" err="1"/>
              <a:t>load_dataset</a:t>
            </a:r>
            <a:endParaRPr lang="en-IN" sz="1400" dirty="0"/>
          </a:p>
          <a:p>
            <a:endParaRPr lang="en-IN" sz="1400" dirty="0"/>
          </a:p>
          <a:p>
            <a:r>
              <a:rPr lang="en-IN" sz="1400" dirty="0"/>
              <a:t>dataset = </a:t>
            </a:r>
            <a:r>
              <a:rPr lang="en-IN" sz="1400" dirty="0" err="1"/>
              <a:t>load_dataset</a:t>
            </a:r>
            <a:r>
              <a:rPr lang="en-IN" sz="1400" dirty="0"/>
              <a:t>("csv", </a:t>
            </a:r>
            <a:r>
              <a:rPr lang="en-IN" sz="1400" dirty="0" err="1"/>
              <a:t>data_files</a:t>
            </a:r>
            <a:r>
              <a:rPr lang="en-IN" sz="1400" dirty="0"/>
              <a:t>={"train": "train.csv", "test": "test.csv"})</a:t>
            </a:r>
          </a:p>
          <a:p>
            <a:r>
              <a:rPr lang="en-IN" sz="1400" dirty="0"/>
              <a:t>tokenizer = </a:t>
            </a:r>
            <a:r>
              <a:rPr lang="en-IN" sz="1400" dirty="0" err="1"/>
              <a:t>BertTokenizer.from_pretrained</a:t>
            </a:r>
            <a:r>
              <a:rPr lang="en-IN" sz="1400" dirty="0"/>
              <a:t>("</a:t>
            </a:r>
            <a:r>
              <a:rPr lang="en-IN" sz="1400" dirty="0" err="1"/>
              <a:t>bert</a:t>
            </a:r>
            <a:r>
              <a:rPr lang="en-IN" sz="1400" dirty="0"/>
              <a:t>-base-uncased")</a:t>
            </a:r>
          </a:p>
          <a:p>
            <a:endParaRPr lang="en-IN" sz="1400" dirty="0"/>
          </a:p>
          <a:p>
            <a:r>
              <a:rPr lang="en-IN" sz="1400" dirty="0"/>
              <a:t>def </a:t>
            </a:r>
            <a:r>
              <a:rPr lang="en-IN" sz="1400" dirty="0" err="1"/>
              <a:t>tok</a:t>
            </a:r>
            <a:r>
              <a:rPr lang="en-IN" sz="1400" dirty="0"/>
              <a:t>(batch):</a:t>
            </a:r>
          </a:p>
          <a:p>
            <a:r>
              <a:rPr lang="en-IN" sz="1400" dirty="0"/>
              <a:t>    return tokenizer(batch["text"], truncation=True, padding="</a:t>
            </a:r>
            <a:r>
              <a:rPr lang="en-IN" sz="1400" dirty="0" err="1"/>
              <a:t>max_length</a:t>
            </a:r>
            <a:r>
              <a:rPr lang="en-IN" sz="1400" dirty="0"/>
              <a:t>")</a:t>
            </a:r>
          </a:p>
          <a:p>
            <a:endParaRPr lang="en-IN" sz="1400" dirty="0"/>
          </a:p>
          <a:p>
            <a:r>
              <a:rPr lang="en-IN" sz="1400" dirty="0"/>
              <a:t>dataset = </a:t>
            </a:r>
            <a:r>
              <a:rPr lang="en-IN" sz="1400" dirty="0" err="1"/>
              <a:t>dataset.map</a:t>
            </a:r>
            <a:r>
              <a:rPr lang="en-IN" sz="1400" dirty="0"/>
              <a:t>(</a:t>
            </a:r>
            <a:r>
              <a:rPr lang="en-IN" sz="1400" dirty="0" err="1"/>
              <a:t>tok</a:t>
            </a:r>
            <a:r>
              <a:rPr lang="en-IN" sz="1400" dirty="0"/>
              <a:t>, batched=True)</a:t>
            </a:r>
          </a:p>
          <a:p>
            <a:endParaRPr lang="en-IN" sz="1400" dirty="0"/>
          </a:p>
          <a:p>
            <a:r>
              <a:rPr lang="en-IN" sz="1400" dirty="0"/>
              <a:t>model = </a:t>
            </a:r>
            <a:r>
              <a:rPr lang="en-IN" sz="1400" dirty="0" err="1"/>
              <a:t>BertForSequenceClassification.from_pretrained</a:t>
            </a:r>
            <a:r>
              <a:rPr lang="en-IN" sz="1400" dirty="0"/>
              <a:t>("</a:t>
            </a:r>
            <a:r>
              <a:rPr lang="en-IN" sz="1400" dirty="0" err="1"/>
              <a:t>bert</a:t>
            </a:r>
            <a:r>
              <a:rPr lang="en-IN" sz="1400" dirty="0"/>
              <a:t>-base-uncased", </a:t>
            </a:r>
            <a:r>
              <a:rPr lang="en-IN" sz="1400" dirty="0" err="1"/>
              <a:t>num_labels</a:t>
            </a:r>
            <a:r>
              <a:rPr lang="en-IN" sz="1400" dirty="0"/>
              <a:t>=2)</a:t>
            </a:r>
          </a:p>
          <a:p>
            <a:endParaRPr lang="en-IN" sz="1400" dirty="0"/>
          </a:p>
          <a:p>
            <a:r>
              <a:rPr lang="en-IN" sz="1400" dirty="0" err="1"/>
              <a:t>args</a:t>
            </a:r>
            <a:r>
              <a:rPr lang="en-IN" sz="1400" dirty="0"/>
              <a:t> = </a:t>
            </a:r>
            <a:r>
              <a:rPr lang="en-IN" sz="1400" dirty="0" err="1"/>
              <a:t>TrainingArguments</a:t>
            </a:r>
            <a:r>
              <a:rPr lang="en-IN" sz="1400" dirty="0"/>
              <a:t>(</a:t>
            </a:r>
          </a:p>
          <a:p>
            <a:r>
              <a:rPr lang="en-IN" sz="1400" dirty="0"/>
              <a:t>    </a:t>
            </a:r>
            <a:r>
              <a:rPr lang="en-IN" sz="1400" dirty="0" err="1"/>
              <a:t>output_dir</a:t>
            </a:r>
            <a:r>
              <a:rPr lang="en-IN" sz="1400" dirty="0"/>
              <a:t>="</a:t>
            </a:r>
            <a:r>
              <a:rPr lang="en-IN" sz="1400" dirty="0" err="1"/>
              <a:t>bert</a:t>
            </a:r>
            <a:r>
              <a:rPr lang="en-IN" sz="1400" dirty="0"/>
              <a:t>-news",</a:t>
            </a:r>
          </a:p>
          <a:p>
            <a:r>
              <a:rPr lang="en-IN" sz="1400" dirty="0"/>
              <a:t>    </a:t>
            </a:r>
            <a:r>
              <a:rPr lang="en-IN" sz="1400" dirty="0" err="1"/>
              <a:t>num_train_epochs</a:t>
            </a:r>
            <a:r>
              <a:rPr lang="en-IN" sz="1400" dirty="0"/>
              <a:t>=3,</a:t>
            </a:r>
          </a:p>
          <a:p>
            <a:r>
              <a:rPr lang="en-IN" sz="1400" dirty="0"/>
              <a:t>    </a:t>
            </a:r>
            <a:r>
              <a:rPr lang="en-IN" sz="1400" dirty="0" err="1"/>
              <a:t>evaluation_strategy</a:t>
            </a:r>
            <a:r>
              <a:rPr lang="en-IN" sz="1400" dirty="0"/>
              <a:t>="epoch",</a:t>
            </a:r>
          </a:p>
          <a:p>
            <a:r>
              <a:rPr lang="en-IN" sz="1400" dirty="0"/>
              <a:t>    </a:t>
            </a:r>
            <a:r>
              <a:rPr lang="en-IN" sz="1400" dirty="0" err="1"/>
              <a:t>per_device_train_batch_size</a:t>
            </a:r>
            <a:r>
              <a:rPr lang="en-IN" sz="1400" dirty="0"/>
              <a:t>=16</a:t>
            </a:r>
          </a:p>
          <a:p>
            <a:r>
              <a:rPr lang="en-IN" sz="1400" dirty="0"/>
              <a:t>)</a:t>
            </a:r>
          </a:p>
          <a:p>
            <a:endParaRPr lang="en-IN" sz="1400" dirty="0"/>
          </a:p>
          <a:p>
            <a:r>
              <a:rPr lang="en-IN" sz="1400" dirty="0"/>
              <a:t>trainer = Trainer(model=model, </a:t>
            </a:r>
            <a:r>
              <a:rPr lang="en-IN" sz="1400" dirty="0" err="1"/>
              <a:t>args</a:t>
            </a:r>
            <a:r>
              <a:rPr lang="en-IN" sz="1400" dirty="0"/>
              <a:t>=</a:t>
            </a:r>
            <a:r>
              <a:rPr lang="en-IN" sz="1400" dirty="0" err="1"/>
              <a:t>args</a:t>
            </a:r>
            <a:r>
              <a:rPr lang="en-IN" sz="1400" dirty="0"/>
              <a:t>,</a:t>
            </a:r>
          </a:p>
          <a:p>
            <a:r>
              <a:rPr lang="en-IN" sz="1400" dirty="0"/>
              <a:t>                  </a:t>
            </a:r>
            <a:r>
              <a:rPr lang="en-IN" sz="1400" dirty="0" err="1"/>
              <a:t>train_dataset</a:t>
            </a:r>
            <a:r>
              <a:rPr lang="en-IN" sz="1400" dirty="0"/>
              <a:t>=dataset["train"],</a:t>
            </a:r>
          </a:p>
          <a:p>
            <a:r>
              <a:rPr lang="en-IN" sz="1400" dirty="0"/>
              <a:t>                  </a:t>
            </a:r>
            <a:r>
              <a:rPr lang="en-IN" sz="1400" dirty="0" err="1"/>
              <a:t>eval_dataset</a:t>
            </a:r>
            <a:r>
              <a:rPr lang="en-IN" sz="1400" dirty="0"/>
              <a:t>=dataset["test"])</a:t>
            </a:r>
          </a:p>
          <a:p>
            <a:endParaRPr lang="en-IN" sz="1400" dirty="0"/>
          </a:p>
          <a:p>
            <a:r>
              <a:rPr lang="en-IN" sz="1400" dirty="0" err="1"/>
              <a:t>trainer.train</a:t>
            </a:r>
            <a:r>
              <a:rPr lang="en-IN" sz="1400" dirty="0"/>
              <a:t>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96144F-5D5E-5CB1-03E4-CAD831BC7523}"/>
              </a:ext>
            </a:extLst>
          </p:cNvPr>
          <p:cNvSpPr txBox="1"/>
          <p:nvPr/>
        </p:nvSpPr>
        <p:spPr>
          <a:xfrm>
            <a:off x="5247118" y="4247806"/>
            <a:ext cx="574277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92D050"/>
                </a:solidFill>
              </a:rPr>
              <a:t>Output:</a:t>
            </a:r>
          </a:p>
          <a:p>
            <a:endParaRPr lang="en-IN" sz="1400" dirty="0"/>
          </a:p>
          <a:p>
            <a:r>
              <a:rPr lang="en-IN" sz="1400" dirty="0"/>
              <a:t>from transformers import pipeline</a:t>
            </a:r>
          </a:p>
          <a:p>
            <a:r>
              <a:rPr lang="en-IN" sz="1400" dirty="0"/>
              <a:t>classifier = pipeline("text-classification", model="</a:t>
            </a:r>
            <a:r>
              <a:rPr lang="en-IN" sz="1400" dirty="0" err="1"/>
              <a:t>bert</a:t>
            </a:r>
            <a:r>
              <a:rPr lang="en-IN" sz="1400" dirty="0"/>
              <a:t>-news")</a:t>
            </a:r>
          </a:p>
          <a:p>
            <a:endParaRPr lang="en-IN" sz="1400" dirty="0"/>
          </a:p>
          <a:p>
            <a:r>
              <a:rPr lang="en-IN" sz="1400" dirty="0"/>
              <a:t>classifier("Breaking: Coffee cures cancer!")</a:t>
            </a:r>
          </a:p>
        </p:txBody>
      </p:sp>
    </p:spTree>
    <p:extLst>
      <p:ext uri="{BB962C8B-B14F-4D97-AF65-F5344CB8AC3E}">
        <p14:creationId xmlns:p14="http://schemas.microsoft.com/office/powerpoint/2010/main" val="28673394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B0FCCD2-7276-7C22-30FD-008F0D447CF1}"/>
              </a:ext>
            </a:extLst>
          </p:cNvPr>
          <p:cNvSpPr txBox="1"/>
          <p:nvPr/>
        </p:nvSpPr>
        <p:spPr>
          <a:xfrm>
            <a:off x="743484" y="305068"/>
            <a:ext cx="6101696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92D050"/>
                </a:solidFill>
              </a:rPr>
              <a:t>Code:</a:t>
            </a:r>
          </a:p>
          <a:p>
            <a:r>
              <a:rPr lang="en-IN" sz="1600" dirty="0"/>
              <a:t>from flask import Flask, request, </a:t>
            </a:r>
            <a:r>
              <a:rPr lang="en-IN" sz="1600" dirty="0" err="1"/>
              <a:t>jsonify</a:t>
            </a:r>
            <a:endParaRPr lang="en-IN" sz="1600" dirty="0"/>
          </a:p>
          <a:p>
            <a:r>
              <a:rPr lang="en-IN" sz="1600" dirty="0"/>
              <a:t>from transformers import pipeline</a:t>
            </a:r>
          </a:p>
          <a:p>
            <a:endParaRPr lang="en-IN" sz="1600" dirty="0"/>
          </a:p>
          <a:p>
            <a:r>
              <a:rPr lang="en-IN" sz="1600" dirty="0"/>
              <a:t>app = Flask(__name__)</a:t>
            </a:r>
          </a:p>
          <a:p>
            <a:endParaRPr lang="en-IN" sz="1600" dirty="0"/>
          </a:p>
          <a:p>
            <a:r>
              <a:rPr lang="en-IN" sz="1600" dirty="0" err="1"/>
              <a:t>model_path</a:t>
            </a:r>
            <a:r>
              <a:rPr lang="en-IN" sz="1600" dirty="0"/>
              <a:t> = "</a:t>
            </a:r>
            <a:r>
              <a:rPr lang="en-IN" sz="1600" dirty="0" err="1"/>
              <a:t>bert</a:t>
            </a:r>
            <a:r>
              <a:rPr lang="en-IN" sz="1600" dirty="0"/>
              <a:t>-news"  # your fine-tuned model</a:t>
            </a:r>
          </a:p>
          <a:p>
            <a:r>
              <a:rPr lang="en-IN" sz="1600" dirty="0"/>
              <a:t>classifier = pipeline("text-classification", model=</a:t>
            </a:r>
            <a:r>
              <a:rPr lang="en-IN" sz="1600" dirty="0" err="1"/>
              <a:t>model_path</a:t>
            </a:r>
            <a:r>
              <a:rPr lang="en-IN" sz="1600" dirty="0"/>
              <a:t>)</a:t>
            </a:r>
          </a:p>
          <a:p>
            <a:endParaRPr lang="en-IN" sz="1600" dirty="0"/>
          </a:p>
          <a:p>
            <a:r>
              <a:rPr lang="en-IN" sz="1600" dirty="0"/>
              <a:t>@app.route("/predict", methods=["POST"])</a:t>
            </a:r>
          </a:p>
          <a:p>
            <a:r>
              <a:rPr lang="en-IN" sz="1600" dirty="0"/>
              <a:t>def predict():</a:t>
            </a:r>
          </a:p>
          <a:p>
            <a:r>
              <a:rPr lang="en-IN" sz="1600" dirty="0"/>
              <a:t>    data = </a:t>
            </a:r>
            <a:r>
              <a:rPr lang="en-IN" sz="1600" dirty="0" err="1"/>
              <a:t>request.get_json</a:t>
            </a:r>
            <a:r>
              <a:rPr lang="en-IN" sz="1600" dirty="0"/>
              <a:t>()</a:t>
            </a:r>
          </a:p>
          <a:p>
            <a:r>
              <a:rPr lang="en-IN" sz="1600" dirty="0"/>
              <a:t>    text = </a:t>
            </a:r>
            <a:r>
              <a:rPr lang="en-IN" sz="1600" dirty="0" err="1"/>
              <a:t>data.get</a:t>
            </a:r>
            <a:r>
              <a:rPr lang="en-IN" sz="1600" dirty="0"/>
              <a:t>("text", "")</a:t>
            </a:r>
          </a:p>
          <a:p>
            <a:endParaRPr lang="en-IN" sz="1600" dirty="0"/>
          </a:p>
          <a:p>
            <a:r>
              <a:rPr lang="en-IN" sz="1600" dirty="0"/>
              <a:t>    if not text:</a:t>
            </a:r>
          </a:p>
          <a:p>
            <a:r>
              <a:rPr lang="en-IN" sz="1600" dirty="0"/>
              <a:t>        return </a:t>
            </a:r>
            <a:r>
              <a:rPr lang="en-IN" sz="1600" dirty="0" err="1"/>
              <a:t>jsonify</a:t>
            </a:r>
            <a:r>
              <a:rPr lang="en-IN" sz="1600" dirty="0"/>
              <a:t>({"error": "No text provided"}), 400</a:t>
            </a:r>
          </a:p>
          <a:p>
            <a:endParaRPr lang="en-IN" sz="1600" dirty="0"/>
          </a:p>
          <a:p>
            <a:r>
              <a:rPr lang="en-IN" sz="1600" dirty="0"/>
              <a:t>    result = classifier(text)[0]</a:t>
            </a:r>
          </a:p>
          <a:p>
            <a:r>
              <a:rPr lang="en-IN" sz="1600" dirty="0"/>
              <a:t>    return </a:t>
            </a:r>
            <a:r>
              <a:rPr lang="en-IN" sz="1600" dirty="0" err="1"/>
              <a:t>jsonify</a:t>
            </a:r>
            <a:r>
              <a:rPr lang="en-IN" sz="1600" dirty="0"/>
              <a:t>({</a:t>
            </a:r>
          </a:p>
          <a:p>
            <a:r>
              <a:rPr lang="en-IN" sz="1600" dirty="0"/>
              <a:t>        "label": result["label"],</a:t>
            </a:r>
          </a:p>
          <a:p>
            <a:r>
              <a:rPr lang="en-IN" sz="1600" dirty="0"/>
              <a:t>        "score": float(result["score"])</a:t>
            </a:r>
          </a:p>
          <a:p>
            <a:r>
              <a:rPr lang="en-IN" sz="1600" dirty="0"/>
              <a:t>    })</a:t>
            </a:r>
          </a:p>
          <a:p>
            <a:endParaRPr lang="en-IN" sz="1600" dirty="0"/>
          </a:p>
          <a:p>
            <a:r>
              <a:rPr lang="en-IN" sz="1600" dirty="0"/>
              <a:t>if __name__ == "__main__":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app.run</a:t>
            </a:r>
            <a:r>
              <a:rPr lang="en-IN" sz="1600" dirty="0"/>
              <a:t>(debug=False, host="0.0.0.0", port=5000)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A75626-E1E2-AA38-EEB7-44FBCA0EF9E3}"/>
              </a:ext>
            </a:extLst>
          </p:cNvPr>
          <p:cNvSpPr txBox="1"/>
          <p:nvPr/>
        </p:nvSpPr>
        <p:spPr>
          <a:xfrm>
            <a:off x="6759724" y="4061565"/>
            <a:ext cx="3614871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92D050"/>
                </a:solidFill>
              </a:rPr>
              <a:t>Output:</a:t>
            </a:r>
          </a:p>
          <a:p>
            <a:r>
              <a:rPr lang="en-IN" sz="1600" dirty="0"/>
              <a:t>POST http://127.0.0.1:5000/predict</a:t>
            </a:r>
          </a:p>
          <a:p>
            <a:r>
              <a:rPr lang="en-IN" sz="1600" dirty="0"/>
              <a:t>{</a:t>
            </a:r>
          </a:p>
          <a:p>
            <a:r>
              <a:rPr lang="en-IN" sz="1600" dirty="0"/>
              <a:t>  "text": "Aliens found in Chennai!"</a:t>
            </a:r>
          </a:p>
          <a:p>
            <a:r>
              <a:rPr lang="en-IN" sz="1600" dirty="0"/>
              <a:t>}</a:t>
            </a:r>
          </a:p>
          <a:p>
            <a:r>
              <a:rPr lang="en-IN" sz="1600" dirty="0"/>
              <a:t>{</a:t>
            </a:r>
          </a:p>
          <a:p>
            <a:r>
              <a:rPr lang="en-IN" sz="1600" dirty="0"/>
              <a:t>“label”:”Fake”,”Score</a:t>
            </a:r>
            <a:r>
              <a:rPr lang="en-IN" sz="1600"/>
              <a:t>”:0.9132</a:t>
            </a:r>
          </a:p>
          <a:p>
            <a:r>
              <a:rPr lang="en-IN" sz="1600"/>
              <a:t>}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4433778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50ECE-E35B-A66A-4A3F-19AD6B39A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Fine-tuning for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32C32-E3C5-A314-ADFD-6E547CEBF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88020"/>
            <a:ext cx="8596668" cy="3880773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GB" b="1" dirty="0"/>
              <a:t>Fine-tuning</a:t>
            </a:r>
            <a:r>
              <a:rPr lang="en-GB" dirty="0"/>
              <a:t> means taking a pretrained model (usually trained on huge generic data — e.g., BERT, </a:t>
            </a:r>
            <a:r>
              <a:rPr lang="en-GB" dirty="0" err="1"/>
              <a:t>RoBERTa</a:t>
            </a:r>
            <a:r>
              <a:rPr lang="en-GB" dirty="0"/>
              <a:t>, </a:t>
            </a:r>
            <a:r>
              <a:rPr lang="en-GB" dirty="0" err="1"/>
              <a:t>DistilBERT</a:t>
            </a:r>
            <a:r>
              <a:rPr lang="en-GB" dirty="0"/>
              <a:t>) and adapting it to a specific </a:t>
            </a:r>
            <a:r>
              <a:rPr lang="en-GB" b="1" dirty="0"/>
              <a:t>classification</a:t>
            </a:r>
            <a:r>
              <a:rPr lang="en-GB" dirty="0"/>
              <a:t> task by continuing training on your </a:t>
            </a:r>
            <a:r>
              <a:rPr lang="en-GB" dirty="0" err="1"/>
              <a:t>labeled</a:t>
            </a:r>
            <a:r>
              <a:rPr lang="en-GB" dirty="0"/>
              <a:t> dataset.</a:t>
            </a:r>
          </a:p>
          <a:p>
            <a:pPr algn="just"/>
            <a:endParaRPr lang="en-GB" dirty="0"/>
          </a:p>
          <a:p>
            <a:r>
              <a:rPr lang="en-GB" b="1" dirty="0"/>
              <a:t>use cases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Sentiment analysis (positive/negative/neutral)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Topic classification (news categories)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Spam detection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197530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808</TotalTime>
  <Words>2550</Words>
  <Application>Microsoft Office PowerPoint</Application>
  <PresentationFormat>Widescreen</PresentationFormat>
  <Paragraphs>493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Arial Unicode MS</vt:lpstr>
      <vt:lpstr>Trebuchet MS</vt:lpstr>
      <vt:lpstr>Wingdings</vt:lpstr>
      <vt:lpstr>Wingdings 3</vt:lpstr>
      <vt:lpstr>Facet</vt:lpstr>
      <vt:lpstr>NLP Technologies</vt:lpstr>
      <vt:lpstr>Tokenization</vt:lpstr>
      <vt:lpstr>PowerPoint Presentation</vt:lpstr>
      <vt:lpstr>PowerPoint Presentation</vt:lpstr>
      <vt:lpstr>PowerPoint Presentation</vt:lpstr>
      <vt:lpstr>Stopword removal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Dependency Parsing</vt:lpstr>
      <vt:lpstr>PowerPoint Presentation</vt:lpstr>
      <vt:lpstr>PowerPoint Presentation</vt:lpstr>
      <vt:lpstr>PowerPoint Presentation</vt:lpstr>
      <vt:lpstr>PowerPoint Presentation</vt:lpstr>
      <vt:lpstr>Machine Learning / Deep Learning</vt:lpstr>
      <vt:lpstr>Machine Learning</vt:lpstr>
      <vt:lpstr>Types of Machine Learning</vt:lpstr>
      <vt:lpstr>ML Pipeline for NLP </vt:lpstr>
      <vt:lpstr>Popular ML Algorithms Used in NLP</vt:lpstr>
      <vt:lpstr>Naive Bayes</vt:lpstr>
      <vt:lpstr>Logistic Regression</vt:lpstr>
      <vt:lpstr>Support Vector Machines (SVM</vt:lpstr>
      <vt:lpstr>Decision Trees</vt:lpstr>
      <vt:lpstr>Random Forest</vt:lpstr>
      <vt:lpstr>Transformer Models &amp; Fine-Tuning for Classification </vt:lpstr>
      <vt:lpstr>Transformer Models</vt:lpstr>
      <vt:lpstr>BERT (Bidirectional Encoder Representations) </vt:lpstr>
      <vt:lpstr>RoBERTa (Optimized BERT) </vt:lpstr>
      <vt:lpstr>DistilBERT (Lightweight BERT)</vt:lpstr>
      <vt:lpstr>Compare Models</vt:lpstr>
      <vt:lpstr>Fake News Classification Workflow </vt:lpstr>
      <vt:lpstr>PowerPoint Presentation</vt:lpstr>
      <vt:lpstr>PowerPoint Presentation</vt:lpstr>
      <vt:lpstr>Fine-tuning for classification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VIGNESH-HOME</dc:creator>
  <cp:lastModifiedBy>VIGNESH-HOME</cp:lastModifiedBy>
  <cp:revision>31</cp:revision>
  <dcterms:created xsi:type="dcterms:W3CDTF">2025-12-08T06:18:23Z</dcterms:created>
  <dcterms:modified xsi:type="dcterms:W3CDTF">2025-12-12T12:16:11Z</dcterms:modified>
</cp:coreProperties>
</file>